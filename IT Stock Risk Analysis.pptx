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58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DA9D-FB4F-6249-9E90-E78961FB3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1AC6F-7F43-A9DD-BE45-55EB59E51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537C5-B09C-4ED1-2B7E-ACC35893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442F-023B-8033-376E-86F2348F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2ED2-783B-8F8E-FAA4-AD807DD0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60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FEF3-7219-CCE0-1C36-0E00FAD1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1E59F-B1B7-5CF9-74C4-2F247B444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9048B-6CCA-0772-0BF7-AF71300F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FDA7-191C-6A84-94FA-1C68621C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E8D96-4F6D-CCBD-976F-27C3C8D1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0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F5EE-7CE7-84D6-C097-656D45DF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A2176-4383-5F66-C07E-48915A0A2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FA794-2405-B674-4424-1773E0D7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59092-72D2-11BC-6644-9C6B7B37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64CB-A2FA-3298-1731-083B8CB7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5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3914-1B65-18AB-EC38-11603A33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8837-6D09-550A-1362-B49772BDB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E5F01-0264-DB5B-2D22-957AAA84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549D8-040A-E201-7105-2188AC41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0F9E7-8293-2414-55F4-FB44E72C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09EAB-BDDE-D203-52CB-7BFA7081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06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5683-42FB-75AC-D4C1-F62356AB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85394-257A-D07E-6B4F-A4301243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9DCF5-BE9E-CE22-5297-E0CFF3C5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98690-52CE-2417-678C-5DEC997B2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782E5-8286-0EB9-2572-E5F3B6C2C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E6100-3DBC-1B81-9E41-C7948EB3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97F6E-BD3C-5CA4-8C50-C90CF132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B386D-BF48-CC6F-BCE1-5E00B432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5596-E057-238E-1D72-71EEB082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27131-B7AC-FC95-AD66-104A6E67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046F4-415F-6817-D1FC-E50C95F7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9BC1D-3936-6DDE-8C20-9ED35610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94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FBF16-D2D1-A90C-5393-BD780DBB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8E1DF-500B-67B0-70A1-3F3D465E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118-3BA7-D791-2377-F716281A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16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4C6E-B1D8-B6EB-DC68-C862DB73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51377-32AB-CE20-E5C2-2A9F7263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C5A6A-692D-728D-DD7F-AB5C6F271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65105-6E40-4882-7BF4-4139C7BC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2C7FD-C294-F207-1C58-44A76FB3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4F591-062B-96FA-EFFD-BAED8CB7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15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6587-BC95-4774-9EB4-EF0AAF62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A465F-9A6F-D45C-DBCC-5B8952F85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CD369-510A-479C-4B59-B35F516D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43047-3104-3E7D-8028-E69323C1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34B15-09A6-2EFD-E759-3946628E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4BB31-37AB-FD89-1C2D-48337097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B374-BFD2-5DB0-38C9-D6040F13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D0C1D-8191-B0DD-FBB0-2C4C1E8F3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CBB43-79EF-825D-27B7-B2A65FAB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6B3E-142D-322A-E632-BE68292D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FD24E-9A3C-48EE-601E-EF3206F2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5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5CA1E-F3E5-3C4A-2D9F-D99EF478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8981-1A1D-16ED-5A1F-412A16799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1802-B198-BAD4-874D-3EBBC7CB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3D95-80F5-B8F2-4C5B-E3B35983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EC72-C102-0A02-FCCF-F4EBB5A9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0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1D2C49-F900-9CC1-BAF5-484CE63C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9D783-8A6F-4E92-F4E9-0A8FEC17C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3880-3D09-CBFB-260E-F8DDDFA92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67F99-8E96-4215-A062-0D2B6994D4E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3AFA-3A47-880E-338C-ACE00295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C21B7-C269-EBB5-D48C-501F84911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D1BAA-38FA-4D6F-8E36-E0E9922F1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1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inmayi2396@gmail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inmayi23-S/-IT-Stocks-Risk-Return-Analysi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3D graphic chart">
            <a:extLst>
              <a:ext uri="{FF2B5EF4-FFF2-40B4-BE49-F238E27FC236}">
                <a16:creationId xmlns:a16="http://schemas.microsoft.com/office/drawing/2014/main" id="{046F1C98-FE2E-23C7-3AB1-29027041F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6F00F1-A51C-FB0D-FE12-A3C4CF6B2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602" y="1185738"/>
            <a:ext cx="9144000" cy="2387600"/>
          </a:xfrm>
        </p:spPr>
        <p:txBody>
          <a:bodyPr>
            <a:normAutofit/>
          </a:bodyPr>
          <a:lstStyle/>
          <a:p>
            <a:r>
              <a:rPr lang="en-IN" sz="3100" b="1" dirty="0"/>
              <a:t> </a:t>
            </a:r>
            <a:r>
              <a:rPr lang="en-IN" sz="4000" b="1" dirty="0"/>
              <a:t>Risk &amp; Return Analysis of Indian IT Stocks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E0761-6444-EC98-5960-1CCC79F5D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933" y="2752254"/>
            <a:ext cx="9010670" cy="821084"/>
          </a:xfrm>
        </p:spPr>
        <p:txBody>
          <a:bodyPr/>
          <a:lstStyle/>
          <a:p>
            <a:pPr algn="l"/>
            <a:r>
              <a:rPr lang="en-US" dirty="0"/>
              <a:t>FY 2018 - 2026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CA444-A03C-3E95-EB35-76E894BDDA24}"/>
              </a:ext>
            </a:extLst>
          </p:cNvPr>
          <p:cNvSpPr txBox="1"/>
          <p:nvPr/>
        </p:nvSpPr>
        <p:spPr>
          <a:xfrm>
            <a:off x="9267731" y="6183516"/>
            <a:ext cx="363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Reported By : Chinmayi Sutar</a:t>
            </a:r>
          </a:p>
          <a:p>
            <a:r>
              <a:rPr lang="en-US" sz="1400" dirty="0"/>
              <a:t>Email: </a:t>
            </a:r>
            <a:r>
              <a:rPr lang="en-US" sz="1400" dirty="0">
                <a:hlinkClick r:id="rId3"/>
              </a:rPr>
              <a:t>Chinmayi2396@gmail.com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24FE8-044B-40AB-3533-C76CB86B302C}"/>
              </a:ext>
            </a:extLst>
          </p:cNvPr>
          <p:cNvSpPr txBox="1"/>
          <p:nvPr/>
        </p:nvSpPr>
        <p:spPr>
          <a:xfrm>
            <a:off x="573932" y="3142426"/>
            <a:ext cx="866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GitHub Link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96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3D graphic chart">
            <a:extLst>
              <a:ext uri="{FF2B5EF4-FFF2-40B4-BE49-F238E27FC236}">
                <a16:creationId xmlns:a16="http://schemas.microsoft.com/office/drawing/2014/main" id="{09275014-9E36-C594-D809-C7ABB8B4E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353E72-EAE0-8FAF-1E24-F94DC8DCC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Content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6AE642-4FE4-09EC-3A6F-A79287599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43075"/>
            <a:ext cx="3822189" cy="4433888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342900" algn="l">
              <a:buFont typeface="+mj-lt"/>
              <a:buAutoNum type="arabicPeriod"/>
            </a:pPr>
            <a:r>
              <a:rPr lang="en-US" sz="1700" dirty="0"/>
              <a:t>Objective</a:t>
            </a:r>
          </a:p>
          <a:p>
            <a:pPr marL="571500" indent="-342900" algn="l">
              <a:buFont typeface="+mj-lt"/>
              <a:buAutoNum type="arabicPeriod"/>
            </a:pPr>
            <a:r>
              <a:rPr lang="en-US" sz="1700" dirty="0"/>
              <a:t>Pattern Analysis</a:t>
            </a:r>
          </a:p>
          <a:p>
            <a:pPr marL="1028700" lvl="1" indent="-342900" algn="l">
              <a:buFont typeface="+mj-lt"/>
              <a:buAutoNum type="alphaLcParenR"/>
            </a:pPr>
            <a:r>
              <a:rPr lang="en-US" sz="1700" dirty="0"/>
              <a:t>Normalized Price Performance</a:t>
            </a:r>
          </a:p>
          <a:p>
            <a:pPr marL="1028700" lvl="1" indent="-342900" algn="l">
              <a:buFont typeface="+mj-lt"/>
              <a:buAutoNum type="alphaLcParenR"/>
            </a:pPr>
            <a:r>
              <a:rPr lang="en-US" sz="1700" dirty="0"/>
              <a:t>Rolling Volatility Plot</a:t>
            </a:r>
          </a:p>
          <a:p>
            <a:pPr marL="1028700" lvl="1" indent="-342900" algn="l">
              <a:buFont typeface="+mj-lt"/>
              <a:buAutoNum type="alphaLcParenR"/>
            </a:pPr>
            <a:r>
              <a:rPr lang="en-US" sz="1700" dirty="0"/>
              <a:t>Correlation Heatmap</a:t>
            </a:r>
          </a:p>
          <a:p>
            <a:pPr marL="1028700" lvl="1" indent="-342900" algn="l">
              <a:buFont typeface="+mj-lt"/>
              <a:buAutoNum type="alphaLcParenR"/>
            </a:pPr>
            <a:r>
              <a:rPr lang="en-US" sz="1700" dirty="0"/>
              <a:t>Drawdown Analysis     </a:t>
            </a:r>
          </a:p>
          <a:p>
            <a:pPr marL="571500" indent="-342900" algn="l">
              <a:buFont typeface="+mj-lt"/>
              <a:buAutoNum type="arabicPeriod"/>
            </a:pPr>
            <a:r>
              <a:rPr lang="en-US" sz="1700" dirty="0"/>
              <a:t>Trading Risk/ Idea</a:t>
            </a:r>
          </a:p>
          <a:p>
            <a:pPr marL="571500" indent="-342900" algn="l">
              <a:buFont typeface="+mj-lt"/>
              <a:buAutoNum type="arabicPeriod"/>
            </a:pPr>
            <a:r>
              <a:rPr lang="en-US" sz="1700" dirty="0"/>
              <a:t>Key Takeaways</a:t>
            </a:r>
          </a:p>
          <a:p>
            <a:pPr algn="l"/>
            <a:r>
              <a:rPr lang="en-US" sz="1700" dirty="0"/>
              <a:t>     5.    Disclaimer</a:t>
            </a:r>
          </a:p>
          <a:p>
            <a:pPr algn="l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0819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graphic chart">
            <a:extLst>
              <a:ext uri="{FF2B5EF4-FFF2-40B4-BE49-F238E27FC236}">
                <a16:creationId xmlns:a16="http://schemas.microsoft.com/office/drawing/2014/main" id="{F9FE2472-71F0-1B17-2319-5B50CC2936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A2A12-7924-6A6E-CF3D-B79D4D8D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79723"/>
          </a:xfrm>
        </p:spPr>
        <p:txBody>
          <a:bodyPr>
            <a:normAutofit fontScale="90000"/>
          </a:bodyPr>
          <a:lstStyle/>
          <a:p>
            <a:r>
              <a:rPr lang="en-US" dirty="0"/>
              <a:t>1. Objective</a:t>
            </a:r>
            <a:br>
              <a:rPr lang="en-US" dirty="0"/>
            </a:br>
            <a:br>
              <a:rPr lang="en-US" dirty="0"/>
            </a:br>
            <a:r>
              <a:rPr lang="en-IN" sz="1800" dirty="0"/>
              <a:t>This report analyses </a:t>
            </a:r>
            <a:r>
              <a:rPr lang="en-IN" sz="1800" b="1" dirty="0"/>
              <a:t>Monthly Closing Prices</a:t>
            </a:r>
            <a:r>
              <a:rPr lang="en-IN" sz="1800" dirty="0"/>
              <a:t> of 4 Major Indian Information Technology (IT) equities from Financial Year 2018- 2026 to study investment return behaviour, market volatility and inter-stock relationship within the sector and propose a simple risk-based Investment Idea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372F2-902C-BB93-132B-66E04AF8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4558"/>
            <a:ext cx="10515600" cy="3542404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List of IT Stocks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Infosys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HCL Tech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Tech Mahindra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Oracle Finance Services Software (OFSS)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Time Period: </a:t>
            </a:r>
            <a:r>
              <a:rPr lang="en-US" sz="1600" dirty="0"/>
              <a:t>Apr 2018 – Mar 2026 (7 years)</a:t>
            </a:r>
          </a:p>
          <a:p>
            <a:pPr marL="0" indent="0">
              <a:buNone/>
            </a:pPr>
            <a:r>
              <a:rPr lang="en-US" sz="1600" b="1" dirty="0"/>
              <a:t>Time Interval: </a:t>
            </a:r>
            <a:r>
              <a:rPr lang="en-US" sz="1600" dirty="0"/>
              <a:t>Monthly</a:t>
            </a:r>
          </a:p>
          <a:p>
            <a:pPr marL="0" indent="0">
              <a:buNone/>
            </a:pPr>
            <a:r>
              <a:rPr lang="en-US" sz="1600" b="1" dirty="0"/>
              <a:t>Data Source: </a:t>
            </a:r>
            <a:r>
              <a:rPr lang="en-US" sz="1600" dirty="0"/>
              <a:t>Yahoo Finance</a:t>
            </a:r>
          </a:p>
          <a:p>
            <a:pPr marL="0" indent="0">
              <a:buNone/>
            </a:pPr>
            <a:r>
              <a:rPr lang="en-US" sz="1600" b="1" dirty="0"/>
              <a:t>Data Analysis Tools &amp; Frameworks: </a:t>
            </a:r>
            <a:r>
              <a:rPr lang="en-US" sz="1600" dirty="0"/>
              <a:t>VS Code, Python (Pandas, </a:t>
            </a:r>
            <a:r>
              <a:rPr lang="en-US" sz="1600" dirty="0" err="1"/>
              <a:t>Numpy</a:t>
            </a:r>
            <a:r>
              <a:rPr lang="en-US" sz="1600" dirty="0"/>
              <a:t>, Matplotlib, Seaborn)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9427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D graphic chart">
            <a:extLst>
              <a:ext uri="{FF2B5EF4-FFF2-40B4-BE49-F238E27FC236}">
                <a16:creationId xmlns:a16="http://schemas.microsoft.com/office/drawing/2014/main" id="{EC8A0295-94DE-BBDA-9B1C-4EAC092A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0328EA-8390-FB3D-8E8C-D3C70A7E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5371"/>
            <a:ext cx="10804219" cy="684548"/>
          </a:xfrm>
        </p:spPr>
        <p:txBody>
          <a:bodyPr/>
          <a:lstStyle/>
          <a:p>
            <a:r>
              <a:rPr lang="en-US" dirty="0"/>
              <a:t>2. Pattern Analysis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33D327-F232-49D5-06C2-F4D92FD8B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73557" y="1501166"/>
            <a:ext cx="6900878" cy="470558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BBB79-B305-D9ED-8F01-FDE4E8DCB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3703"/>
            <a:ext cx="4033769" cy="4182893"/>
          </a:xfrm>
        </p:spPr>
        <p:txBody>
          <a:bodyPr>
            <a:normAutofit/>
          </a:bodyPr>
          <a:lstStyle/>
          <a:p>
            <a:endParaRPr lang="en-IN" sz="1300" b="1" dirty="0"/>
          </a:p>
          <a:p>
            <a:r>
              <a:rPr lang="en-IN" sz="1300" b="1" dirty="0"/>
              <a:t>OFSS (purple) is the clear long-term winner</a:t>
            </a:r>
            <a:r>
              <a:rPr lang="en-IN" sz="1300" dirty="0"/>
              <a:t> — it ends the period at the highest level. Despite starting at the bottom of the pack in 2018, it surged dramatically from post covid and 2023 onward.</a:t>
            </a:r>
          </a:p>
          <a:p>
            <a:r>
              <a:rPr lang="en-IN" sz="1300" b="1" dirty="0"/>
              <a:t>HCL Tech (green) is the second-best performer</a:t>
            </a:r>
            <a:r>
              <a:rPr lang="en-IN" sz="1300" dirty="0"/>
              <a:t> — it shows steady, consistent growth throughout the period</a:t>
            </a:r>
          </a:p>
          <a:p>
            <a:r>
              <a:rPr lang="en-IN" sz="1300" b="1" dirty="0"/>
              <a:t>Infosys (blue) tracks closely with HCL Tech</a:t>
            </a:r>
            <a:r>
              <a:rPr lang="en-IN" sz="1300" dirty="0"/>
              <a:t> for most of the period but diverges slightly lower toward 2025–2026</a:t>
            </a:r>
            <a:endParaRPr lang="en-IN" sz="1300" b="1" dirty="0"/>
          </a:p>
          <a:p>
            <a:r>
              <a:rPr lang="en-IN" sz="1300" b="1" dirty="0"/>
              <a:t>Tech Mahindra (red) is the weakest performer</a:t>
            </a:r>
            <a:r>
              <a:rPr lang="en-IN" sz="1300" dirty="0"/>
              <a:t> — it's the only stock that spends significant time </a:t>
            </a:r>
            <a:r>
              <a:rPr lang="en-IN" sz="1300" i="1" dirty="0"/>
              <a:t>below</a:t>
            </a:r>
            <a:r>
              <a:rPr lang="en-IN" sz="1300" dirty="0"/>
              <a:t> its starting value (2018–2020), and despite a strong 2023–2024 rally, it has pulled back sharply into 2026.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655A3-E1AA-2624-2698-9B976863238B}"/>
              </a:ext>
            </a:extLst>
          </p:cNvPr>
          <p:cNvSpPr txBox="1"/>
          <p:nvPr/>
        </p:nvSpPr>
        <p:spPr>
          <a:xfrm>
            <a:off x="4348263" y="849918"/>
            <a:ext cx="5418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a) Normalized Price Performance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7494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3D graphic chart">
            <a:extLst>
              <a:ext uri="{FF2B5EF4-FFF2-40B4-BE49-F238E27FC236}">
                <a16:creationId xmlns:a16="http://schemas.microsoft.com/office/drawing/2014/main" id="{F19AC3B0-2D4F-1A10-B6B0-A125AB4893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6E74DC9-064A-3E5F-EFA1-A105852B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958" y="603114"/>
            <a:ext cx="11205048" cy="762383"/>
          </a:xfrm>
        </p:spPr>
        <p:txBody>
          <a:bodyPr>
            <a:noAutofit/>
          </a:bodyPr>
          <a:lstStyle/>
          <a:p>
            <a:pPr algn="ctr"/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b) Rolling Volatility Plot</a:t>
            </a:r>
            <a:br>
              <a:rPr lang="en-US" sz="2400" dirty="0"/>
            </a:br>
            <a:endParaRPr lang="en-IN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20E48B-8C61-C0D6-FF24-5C4054B7F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1333" y="1295473"/>
            <a:ext cx="3932237" cy="837446"/>
          </a:xfrm>
        </p:spPr>
        <p:txBody>
          <a:bodyPr>
            <a:normAutofit/>
          </a:bodyPr>
          <a:lstStyle/>
          <a:p>
            <a:r>
              <a:rPr lang="en-US" b="1" dirty="0"/>
              <a:t>Annualized Volatility</a:t>
            </a:r>
          </a:p>
          <a:p>
            <a:r>
              <a:rPr lang="en-IN" sz="1200" dirty="0"/>
              <a:t>Measures price fluctuations (Risk)</a:t>
            </a:r>
            <a:br>
              <a:rPr lang="en-IN" sz="1200" dirty="0"/>
            </a:br>
            <a:r>
              <a:rPr lang="en-IN" sz="1200" dirty="0"/>
              <a:t>Higher Volatility = Higher Uncertainty/risk</a:t>
            </a:r>
            <a:endParaRPr lang="en-US" sz="1200" b="1" dirty="0"/>
          </a:p>
          <a:p>
            <a:endParaRPr lang="en-US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9868ECE-26D6-A9C9-A64D-2AC1F12E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12250"/>
              </p:ext>
            </p:extLst>
          </p:nvPr>
        </p:nvGraphicFramePr>
        <p:xfrm>
          <a:off x="451333" y="2279698"/>
          <a:ext cx="4080040" cy="183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4071">
                  <a:extLst>
                    <a:ext uri="{9D8B030D-6E8A-4147-A177-3AD203B41FA5}">
                      <a16:colId xmlns:a16="http://schemas.microsoft.com/office/drawing/2014/main" val="3370614980"/>
                    </a:ext>
                  </a:extLst>
                </a:gridCol>
                <a:gridCol w="1981414">
                  <a:extLst>
                    <a:ext uri="{9D8B030D-6E8A-4147-A177-3AD203B41FA5}">
                      <a16:colId xmlns:a16="http://schemas.microsoft.com/office/drawing/2014/main" val="2212392863"/>
                    </a:ext>
                  </a:extLst>
                </a:gridCol>
                <a:gridCol w="1464555">
                  <a:extLst>
                    <a:ext uri="{9D8B030D-6E8A-4147-A177-3AD203B41FA5}">
                      <a16:colId xmlns:a16="http://schemas.microsoft.com/office/drawing/2014/main" val="2530416996"/>
                    </a:ext>
                  </a:extLst>
                </a:gridCol>
              </a:tblGrid>
              <a:tr h="317346">
                <a:tc>
                  <a:txBody>
                    <a:bodyPr/>
                    <a:lstStyle/>
                    <a:p>
                      <a:r>
                        <a:rPr lang="en-US" sz="1400" dirty="0"/>
                        <a:t>Rank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Stock </a:t>
                      </a:r>
                      <a:endParaRPr lang="en-IN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Volatility (%)</a:t>
                      </a:r>
                      <a:endParaRPr lang="en-IN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3885941"/>
                  </a:ext>
                </a:extLst>
              </a:tr>
              <a:tr h="36790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 Mahindra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36.52</a:t>
                      </a:r>
                      <a:endParaRPr lang="en-IN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8179164"/>
                  </a:ext>
                </a:extLst>
              </a:tr>
              <a:tr h="382265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OFSS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29.79</a:t>
                      </a:r>
                      <a:endParaRPr lang="en-IN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3694151"/>
                  </a:ext>
                </a:extLst>
              </a:tr>
              <a:tr h="382265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Infosys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28.55</a:t>
                      </a:r>
                      <a:endParaRPr lang="en-IN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90314653"/>
                  </a:ext>
                </a:extLst>
              </a:tr>
              <a:tr h="382265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HCL Tech</a:t>
                      </a:r>
                      <a:endParaRPr lang="en-IN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26.70</a:t>
                      </a:r>
                      <a:endParaRPr lang="en-IN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077086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1333" y="4290115"/>
            <a:ext cx="3932237" cy="203286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en-US" sz="1400" b="1" dirty="0"/>
              <a:t>Insights</a:t>
            </a:r>
          </a:p>
          <a:p>
            <a:endParaRPr lang="en-US" sz="1200" b="1" dirty="0"/>
          </a:p>
          <a:p>
            <a:pPr marL="171450" indent="-171450">
              <a:buChar char="•"/>
            </a:pPr>
            <a:r>
              <a:rPr lang="en-US" sz="1200" dirty="0"/>
              <a:t>Tech Mahindra is the most volatile (36.52%), about 10% points more volatile than HCL Tech (26.70%).</a:t>
            </a:r>
          </a:p>
          <a:p>
            <a:endParaRPr lang="en-US" sz="1200" dirty="0"/>
          </a:p>
          <a:p>
            <a:pPr marL="171450" indent="-171450">
              <a:buChar char="•"/>
            </a:pPr>
            <a:r>
              <a:rPr lang="en-US" sz="1200" dirty="0"/>
              <a:t>OFSS and Infosys show similar mid-range risk profiles (28–30%).</a:t>
            </a:r>
          </a:p>
          <a:p>
            <a:pPr marL="171450" indent="-171450">
              <a:buChar char="•"/>
            </a:pPr>
            <a:endParaRPr lang="en-US" sz="1200" dirty="0"/>
          </a:p>
          <a:p>
            <a:pPr marL="171450" indent="-171450">
              <a:buChar char="•"/>
            </a:pPr>
            <a:r>
              <a:rPr lang="en-US" sz="1200" dirty="0"/>
              <a:t>All stocks spike during market stress, with Tech Mahindra swinging the most.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3A4A5EF2-6205-865D-1CEB-91604394B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7371" y="1365497"/>
            <a:ext cx="7276290" cy="50547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82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3D graphic chart">
            <a:extLst>
              <a:ext uri="{FF2B5EF4-FFF2-40B4-BE49-F238E27FC236}">
                <a16:creationId xmlns:a16="http://schemas.microsoft.com/office/drawing/2014/main" id="{29E460C7-3293-04EA-D4B0-59AB755FF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CA8B31-31DA-B58B-AA65-5710C63A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96111"/>
            <a:ext cx="10531846" cy="535022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c) Correlation Heatmap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2F0314-D615-CFFC-8AFB-312D6A772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8765" y="1124355"/>
            <a:ext cx="5633447" cy="41293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D45EC-A103-311A-FF8B-1BDC060F6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24356"/>
            <a:ext cx="4432603" cy="544181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Correlation between monthly returns was analysed to assess diversification benefits within the IT sector</a:t>
            </a:r>
          </a:p>
          <a:p>
            <a:endParaRPr lang="en-IN" b="1" dirty="0"/>
          </a:p>
          <a:p>
            <a:r>
              <a:rPr lang="en-IN" sz="1400" b="1" dirty="0"/>
              <a:t>Insights</a:t>
            </a:r>
          </a:p>
          <a:p>
            <a:endParaRPr lang="en-IN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Infosys, HCL Tech &amp; OFSS </a:t>
            </a:r>
            <a:r>
              <a:rPr lang="en-IN" sz="1200" dirty="0"/>
              <a:t>(0.65–0.70) — meaning they tend to rise and fall together, reducing the benefit of holding all 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Tech Mahindra is the outlier </a:t>
            </a:r>
            <a:r>
              <a:rPr lang="en-IN" sz="1200" dirty="0"/>
              <a:t>(0.34 -0.43) -</a:t>
            </a:r>
            <a:r>
              <a:rPr lang="en-IN" sz="1200" b="1" dirty="0"/>
              <a:t> </a:t>
            </a:r>
            <a:r>
              <a:rPr lang="en-IN" sz="1200" dirty="0"/>
              <a:t>moves more independently, which, combined with its higher volatility from slide 4, offering a high-risk / high-diversification trade-off.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Optimal two-stock pair: HCL Tech + Tech Mahindra</a:t>
            </a:r>
            <a:r>
              <a:rPr lang="en-IN" sz="1200" dirty="0"/>
              <a:t> — combines the lowest volatility with the lowest correlation for maximum risk reduction.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7AF371-E9D3-33D4-8345-83AC6D8CC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15265"/>
              </p:ext>
            </p:extLst>
          </p:nvPr>
        </p:nvGraphicFramePr>
        <p:xfrm>
          <a:off x="5718765" y="5483156"/>
          <a:ext cx="4153677" cy="12192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90059">
                  <a:extLst>
                    <a:ext uri="{9D8B030D-6E8A-4147-A177-3AD203B41FA5}">
                      <a16:colId xmlns:a16="http://schemas.microsoft.com/office/drawing/2014/main" val="1712278319"/>
                    </a:ext>
                  </a:extLst>
                </a:gridCol>
                <a:gridCol w="2463618">
                  <a:extLst>
                    <a:ext uri="{9D8B030D-6E8A-4147-A177-3AD203B41FA5}">
                      <a16:colId xmlns:a16="http://schemas.microsoft.com/office/drawing/2014/main" val="2480014356"/>
                    </a:ext>
                  </a:extLst>
                </a:gridCol>
              </a:tblGrid>
              <a:tr h="2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119697"/>
                  </a:ext>
                </a:extLst>
              </a:tr>
              <a:tr h="2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rgbClr val="800000"/>
                          </a:solidFill>
                        </a:rPr>
                        <a:t>+1.0</a:t>
                      </a:r>
                      <a:endParaRPr lang="en-IN" sz="1000" dirty="0">
                        <a:solidFill>
                          <a:srgbClr val="8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Move exactly together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462863"/>
                  </a:ext>
                </a:extLst>
              </a:tr>
              <a:tr h="2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0.7 – 0.9</a:t>
                      </a:r>
                      <a:endParaRPr lang="en-IN" sz="10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Strong positive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258735"/>
                  </a:ext>
                </a:extLst>
              </a:tr>
              <a:tr h="2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rgbClr val="FF5050"/>
                          </a:solidFill>
                        </a:rPr>
                        <a:t>0.4 – 0.6</a:t>
                      </a:r>
                      <a:endParaRPr lang="en-IN" sz="1000" dirty="0">
                        <a:solidFill>
                          <a:srgbClr val="FF5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Moderate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14719"/>
                  </a:ext>
                </a:extLst>
              </a:tr>
              <a:tr h="22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0.0</a:t>
                      </a:r>
                      <a:endParaRPr lang="en-IN" sz="10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No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023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56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3D graphic chart">
            <a:extLst>
              <a:ext uri="{FF2B5EF4-FFF2-40B4-BE49-F238E27FC236}">
                <a16:creationId xmlns:a16="http://schemas.microsoft.com/office/drawing/2014/main" id="{6116F494-C4B9-2BE2-8089-9DF06465B5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" y="0"/>
            <a:ext cx="1212862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B0EE0-FCBF-2EC5-5BB1-DA0B94DC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3115"/>
            <a:ext cx="10515600" cy="62257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d) Drawdown Analysis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D4670-A2EE-55E9-87F3-7A7CE561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3438" y="1459150"/>
            <a:ext cx="3932237" cy="448445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Drawdown measures how far a stock falls from its previous peak.</a:t>
            </a:r>
          </a:p>
          <a:p>
            <a:endParaRPr lang="en-IN" dirty="0"/>
          </a:p>
          <a:p>
            <a:r>
              <a:rPr lang="en-IN" sz="1500" b="1" dirty="0"/>
              <a:t>Insights</a:t>
            </a:r>
          </a:p>
          <a:p>
            <a:pPr marL="228600" indent="-228600">
              <a:buAutoNum type="arabicPeriod"/>
            </a:pPr>
            <a:r>
              <a:rPr lang="en-IN" sz="1300" b="1" dirty="0"/>
              <a:t>2020 COVID Crash</a:t>
            </a:r>
          </a:p>
          <a:p>
            <a:pPr marL="171450" indent="-171450">
              <a:buFontTx/>
              <a:buChar char="-"/>
            </a:pPr>
            <a:r>
              <a:rPr lang="en-IN" sz="1300" dirty="0" err="1"/>
              <a:t>TechM</a:t>
            </a:r>
            <a:r>
              <a:rPr lang="en-IN" sz="1300" dirty="0"/>
              <a:t> and OFSS recorded deepest drawdown, falling close to 40% from all time high</a:t>
            </a:r>
          </a:p>
          <a:p>
            <a:pPr marL="171450" indent="-171450">
              <a:buFontTx/>
              <a:buChar char="-"/>
            </a:pPr>
            <a:r>
              <a:rPr lang="en-IN" sz="1300" dirty="0"/>
              <a:t>Infosys and HCL Tech declined but recovered relatively faster</a:t>
            </a:r>
          </a:p>
          <a:p>
            <a:endParaRPr lang="en-IN" sz="1300" dirty="0"/>
          </a:p>
          <a:p>
            <a:r>
              <a:rPr lang="en-IN" sz="1300" b="1" dirty="0"/>
              <a:t>2. 2022 Inflation and Global Slowdown</a:t>
            </a:r>
          </a:p>
          <a:p>
            <a:pPr marL="171450" indent="-171450">
              <a:buFontTx/>
              <a:buChar char="-"/>
            </a:pPr>
            <a:r>
              <a:rPr lang="en-IN" sz="1300" dirty="0"/>
              <a:t>OFSS showed steepest prolonged drawdowns</a:t>
            </a:r>
          </a:p>
          <a:p>
            <a:endParaRPr lang="en-IN" sz="1300" dirty="0"/>
          </a:p>
          <a:p>
            <a:pPr marL="228600" indent="-228600">
              <a:buAutoNum type="arabicPeriod" startAt="3"/>
            </a:pPr>
            <a:r>
              <a:rPr lang="en-IN" sz="1300" b="1" dirty="0"/>
              <a:t>2025-2026 ongoing AI-Driven IT Rerating Phase</a:t>
            </a:r>
          </a:p>
          <a:p>
            <a:pPr marL="171450" indent="-171450">
              <a:buFontTx/>
              <a:buChar char="-"/>
            </a:pPr>
            <a:r>
              <a:rPr lang="en-IN" sz="1300" dirty="0" err="1"/>
              <a:t>TechM</a:t>
            </a:r>
            <a:r>
              <a:rPr lang="en-IN" sz="1300" dirty="0"/>
              <a:t> currently exhibits sharpest drawdown among four, indicating higher market uncertainty</a:t>
            </a:r>
          </a:p>
          <a:p>
            <a:pPr marL="171450" indent="-171450">
              <a:buFontTx/>
              <a:buChar char="-"/>
            </a:pPr>
            <a:endParaRPr lang="en-IN" sz="1300" b="1" dirty="0"/>
          </a:p>
          <a:p>
            <a:r>
              <a:rPr lang="en-IN" sz="1300" b="1" dirty="0"/>
              <a:t>Infosys and HCL Tech demonstrated comparatively better resilience in all 3 market crashes </a:t>
            </a:r>
          </a:p>
          <a:p>
            <a:endParaRPr lang="en-IN" sz="12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10E7E4-2678-02CD-C7A3-81171D788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9550" y="1459151"/>
            <a:ext cx="7286017" cy="4795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8444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graphic chart">
            <a:extLst>
              <a:ext uri="{FF2B5EF4-FFF2-40B4-BE49-F238E27FC236}">
                <a16:creationId xmlns:a16="http://schemas.microsoft.com/office/drawing/2014/main" id="{1CC785F7-93F8-466A-85BC-5BCDC04B40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A13803-9820-22F0-BDBA-CA2CD542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523728"/>
            <a:ext cx="7399540" cy="530225"/>
          </a:xfrm>
        </p:spPr>
        <p:txBody>
          <a:bodyPr>
            <a:normAutofit fontScale="90000"/>
          </a:bodyPr>
          <a:lstStyle/>
          <a:p>
            <a:r>
              <a:rPr lang="en-US" dirty="0"/>
              <a:t>3. Trading Risk/ Idea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057FAB-96FB-0A77-193F-08F39BF7B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1420" y="815234"/>
            <a:ext cx="6031150" cy="48541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AEF49-F191-5C6E-FA14-865C95A9B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7" y="1488332"/>
            <a:ext cx="6031149" cy="1332689"/>
          </a:xfrm>
        </p:spPr>
        <p:txBody>
          <a:bodyPr>
            <a:noAutofit/>
          </a:bodyPr>
          <a:lstStyle/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r>
              <a:rPr lang="en-IN" sz="1200" b="1" dirty="0"/>
              <a:t> </a:t>
            </a:r>
          </a:p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endParaRPr lang="en-IN" sz="1200" b="1" dirty="0"/>
          </a:p>
          <a:p>
            <a:pPr>
              <a:lnSpc>
                <a:spcPct val="0"/>
              </a:lnSpc>
              <a:spcBef>
                <a:spcPts val="0"/>
              </a:spcBef>
            </a:pPr>
            <a:r>
              <a:rPr lang="en-IN" sz="1200" b="1" dirty="0"/>
              <a:t>EMA 10 Strategy vs Buy &amp; Hold — Tech Mahindra (FY 2018–2026)</a:t>
            </a:r>
          </a:p>
          <a:p>
            <a:pPr>
              <a:lnSpc>
                <a:spcPct val="0"/>
              </a:lnSpc>
            </a:pPr>
            <a:endParaRPr lang="en-IN" sz="1200" dirty="0"/>
          </a:p>
          <a:p>
            <a:pPr>
              <a:lnSpc>
                <a:spcPct val="0"/>
              </a:lnSpc>
            </a:pPr>
            <a:r>
              <a:rPr lang="en-IN" sz="1200" dirty="0"/>
              <a:t>The EMA 10 approach is a momentum-based timing strategy </a:t>
            </a:r>
          </a:p>
          <a:p>
            <a:pPr>
              <a:lnSpc>
                <a:spcPct val="0"/>
              </a:lnSpc>
            </a:pPr>
            <a:endParaRPr lang="en-IN" sz="1200" dirty="0"/>
          </a:p>
          <a:p>
            <a:pPr marL="285750" indent="-285750">
              <a:lnSpc>
                <a:spcPct val="0"/>
              </a:lnSpc>
              <a:buFontTx/>
              <a:buChar char="-"/>
            </a:pPr>
            <a:r>
              <a:rPr lang="en-IN" sz="1200" dirty="0"/>
              <a:t>buy when the monthly close is above the 10-month Exponential Moving Average, </a:t>
            </a:r>
          </a:p>
          <a:p>
            <a:pPr marL="285750" indent="-285750">
              <a:lnSpc>
                <a:spcPct val="0"/>
              </a:lnSpc>
              <a:buFontTx/>
              <a:buChar char="-"/>
            </a:pPr>
            <a:r>
              <a:rPr lang="en-IN" sz="1200" dirty="0"/>
              <a:t>sell (or halve allocation) when it drops below EMA 10</a:t>
            </a:r>
          </a:p>
          <a:p>
            <a:pPr marL="285750" indent="-285750">
              <a:lnSpc>
                <a:spcPct val="0"/>
              </a:lnSpc>
              <a:buFontTx/>
              <a:buChar char="-"/>
            </a:pPr>
            <a:endParaRPr lang="en-IN" sz="1200" dirty="0"/>
          </a:p>
          <a:p>
            <a:pPr>
              <a:lnSpc>
                <a:spcPct val="0"/>
              </a:lnSpc>
            </a:pPr>
            <a:r>
              <a:rPr lang="en-IN" sz="1200" dirty="0"/>
              <a:t>It's designed to sidestep Tech Mahindra's high volatility identified earlier (36.52%).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2CBB5-0A04-8204-DCC2-A3840C685ED3}"/>
              </a:ext>
            </a:extLst>
          </p:cNvPr>
          <p:cNvSpPr txBox="1"/>
          <p:nvPr/>
        </p:nvSpPr>
        <p:spPr>
          <a:xfrm>
            <a:off x="382586" y="2228671"/>
            <a:ext cx="49513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b="1" dirty="0"/>
          </a:p>
          <a:p>
            <a:r>
              <a:rPr lang="en-IN" sz="1200" b="1" dirty="0"/>
              <a:t>WEAKNESS</a:t>
            </a:r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- Overfitting: strategy worked historically may fail future regimes</a:t>
            </a:r>
          </a:p>
          <a:p>
            <a:pPr marL="171450" indent="-171450">
              <a:buFontTx/>
              <a:buChar char="-"/>
            </a:pPr>
            <a:r>
              <a:rPr lang="en-IN" sz="1200" dirty="0"/>
              <a:t>Analysis Ignores interest rates, USD/INR effects, Global tech sentiment</a:t>
            </a:r>
          </a:p>
          <a:p>
            <a:r>
              <a:rPr lang="en-IN" sz="1200" dirty="0"/>
              <a:t>- Monthly data may miss intra-month reversals</a:t>
            </a:r>
          </a:p>
          <a:p>
            <a:r>
              <a:rPr lang="en-IN" sz="1200" dirty="0"/>
              <a:t>- Transaction cost: frequently rebalancing may reduce profitability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E6997-83CE-3531-3A68-3DF73E05DEA5}"/>
              </a:ext>
            </a:extLst>
          </p:cNvPr>
          <p:cNvSpPr txBox="1"/>
          <p:nvPr/>
        </p:nvSpPr>
        <p:spPr>
          <a:xfrm>
            <a:off x="5933872" y="5293000"/>
            <a:ext cx="575877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sz="1100" b="1" dirty="0"/>
          </a:p>
          <a:p>
            <a:r>
              <a:rPr lang="en-IN" sz="1100" b="1" dirty="0"/>
              <a:t>The strategy line (solid) stays above Buy &amp; Hold (dashed) for most of the period</a:t>
            </a:r>
            <a:r>
              <a:rPr lang="en-IN" sz="1100" dirty="0"/>
              <a:t>, particularly pulling ahead during recovery phases after 2023. This suggests the EMA signal effectively timed re-entry after drawdowns</a:t>
            </a:r>
          </a:p>
        </p:txBody>
      </p:sp>
    </p:spTree>
    <p:extLst>
      <p:ext uri="{BB962C8B-B14F-4D97-AF65-F5344CB8AC3E}">
        <p14:creationId xmlns:p14="http://schemas.microsoft.com/office/powerpoint/2010/main" val="381414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3D graphic chart">
            <a:extLst>
              <a:ext uri="{FF2B5EF4-FFF2-40B4-BE49-F238E27FC236}">
                <a16:creationId xmlns:a16="http://schemas.microsoft.com/office/drawing/2014/main" id="{09CA57D4-3C23-CFF0-AB06-31EAA14144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E24F8E-7F45-45C5-8538-F6CF6485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5838"/>
            <a:ext cx="10515600" cy="943583"/>
          </a:xfrm>
        </p:spPr>
        <p:txBody>
          <a:bodyPr>
            <a:normAutofit/>
          </a:bodyPr>
          <a:lstStyle/>
          <a:p>
            <a:r>
              <a:rPr lang="en-US" sz="2800" dirty="0"/>
              <a:t>3. Trading Risk/ Idea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9FF7-2901-7856-CFB0-3442B211D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617"/>
            <a:ext cx="10515600" cy="437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Why the Risk/Idea is Useful?</a:t>
            </a:r>
          </a:p>
          <a:p>
            <a:pPr marL="0" indent="0" algn="ctr">
              <a:buNone/>
            </a:pPr>
            <a:r>
              <a:rPr lang="en-US" sz="1400" b="1" dirty="0"/>
              <a:t>Performance Matrix</a:t>
            </a:r>
          </a:p>
          <a:p>
            <a:endParaRPr lang="en-IN" sz="1400" b="1" dirty="0"/>
          </a:p>
          <a:p>
            <a:endParaRPr lang="en-IN" sz="1400" b="1" dirty="0"/>
          </a:p>
          <a:p>
            <a:endParaRPr lang="en-IN" sz="1400" b="1" dirty="0"/>
          </a:p>
          <a:p>
            <a:endParaRPr lang="en-IN" sz="1400" b="1" dirty="0"/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endParaRPr lang="en-IN" sz="1400" b="1" dirty="0"/>
          </a:p>
          <a:p>
            <a:endParaRPr lang="en-IN" sz="1400" b="1" dirty="0"/>
          </a:p>
          <a:p>
            <a:r>
              <a:rPr lang="en-IN" sz="1200" b="1" dirty="0"/>
              <a:t>CAGR of 15.15% vs 10.67%</a:t>
            </a:r>
            <a:r>
              <a:rPr lang="en-IN" sz="1200" dirty="0"/>
              <a:t> — the EMA strategy outperformed buy &amp; hold by roughly </a:t>
            </a:r>
            <a:r>
              <a:rPr lang="en-IN" sz="1200" b="1" dirty="0"/>
              <a:t>4.5 percentage points</a:t>
            </a:r>
            <a:r>
              <a:rPr lang="en-IN" sz="1200" dirty="0"/>
              <a:t> annually over 7 years.</a:t>
            </a:r>
          </a:p>
          <a:p>
            <a:r>
              <a:rPr lang="en-IN" sz="1200" b="1" dirty="0"/>
              <a:t>Volatility dropped from 36.52% to 31.03%</a:t>
            </a:r>
            <a:r>
              <a:rPr lang="en-IN" sz="1200" dirty="0"/>
              <a:t> — a ~15% reduction in risk while delivering higher returns</a:t>
            </a:r>
          </a:p>
          <a:p>
            <a:r>
              <a:rPr lang="en-IN" sz="1200" b="1" dirty="0"/>
              <a:t>Sharpe Ratio of 0.48 vs 0.29</a:t>
            </a:r>
            <a:r>
              <a:rPr lang="en-IN" sz="1200" dirty="0"/>
              <a:t> — the strategy delivers </a:t>
            </a:r>
            <a:r>
              <a:rPr lang="en-IN" sz="1200" b="1" dirty="0"/>
              <a:t>65% better risk-adjusted returns</a:t>
            </a:r>
            <a:r>
              <a:rPr lang="en-IN" sz="1200" dirty="0"/>
              <a:t>, meaning each unit of risk taken produces substantially more return.</a:t>
            </a:r>
          </a:p>
          <a:p>
            <a:r>
              <a:rPr lang="en-IN" sz="1200" b="1" dirty="0"/>
              <a:t>Max Drawdown cut from 50% to 32%</a:t>
            </a:r>
            <a:r>
              <a:rPr lang="en-IN" sz="1200" dirty="0"/>
              <a:t> — the strategy avoided nearly </a:t>
            </a:r>
            <a:r>
              <a:rPr lang="en-IN" sz="1200" b="1" dirty="0"/>
              <a:t>18 percentage points</a:t>
            </a:r>
            <a:r>
              <a:rPr lang="en-IN" sz="1200" dirty="0"/>
              <a:t> of peak-to-trough decline, likely by exiting before the worst of the 2020 COVID crash and the 2025 correction.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20E272-46FC-3B9F-0EEB-32931DD03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6490"/>
              </p:ext>
            </p:extLst>
          </p:nvPr>
        </p:nvGraphicFramePr>
        <p:xfrm>
          <a:off x="3667327" y="2517281"/>
          <a:ext cx="5145931" cy="1683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913">
                  <a:extLst>
                    <a:ext uri="{9D8B030D-6E8A-4147-A177-3AD203B41FA5}">
                      <a16:colId xmlns:a16="http://schemas.microsoft.com/office/drawing/2014/main" val="1309917585"/>
                    </a:ext>
                  </a:extLst>
                </a:gridCol>
                <a:gridCol w="1851009">
                  <a:extLst>
                    <a:ext uri="{9D8B030D-6E8A-4147-A177-3AD203B41FA5}">
                      <a16:colId xmlns:a16="http://schemas.microsoft.com/office/drawing/2014/main" val="2213298404"/>
                    </a:ext>
                  </a:extLst>
                </a:gridCol>
                <a:gridCol w="1851009">
                  <a:extLst>
                    <a:ext uri="{9D8B030D-6E8A-4147-A177-3AD203B41FA5}">
                      <a16:colId xmlns:a16="http://schemas.microsoft.com/office/drawing/2014/main" val="2145024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Parameter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EMA 10 Strategy (%)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Buy &amp; Hold benchmark (%)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5136198"/>
                  </a:ext>
                </a:extLst>
              </a:tr>
              <a:tr h="307784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CAGR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15.15</a:t>
                      </a:r>
                      <a:endParaRPr lang="en-IN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10.67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45848151"/>
                  </a:ext>
                </a:extLst>
              </a:tr>
              <a:tr h="307784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Annual Volatility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31.03</a:t>
                      </a:r>
                      <a:endParaRPr lang="en-IN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36.52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9475927"/>
                  </a:ext>
                </a:extLst>
              </a:tr>
              <a:tr h="333593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Sharpe Ratio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0.48</a:t>
                      </a:r>
                      <a:endParaRPr lang="en-IN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0.29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43537727"/>
                  </a:ext>
                </a:extLst>
              </a:tr>
              <a:tr h="307784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Max Drawdown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32%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50%</a:t>
                      </a:r>
                      <a:endParaRPr lang="en-IN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373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31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D graphic chart">
            <a:extLst>
              <a:ext uri="{FF2B5EF4-FFF2-40B4-BE49-F238E27FC236}">
                <a16:creationId xmlns:a16="http://schemas.microsoft.com/office/drawing/2014/main" id="{85A1782F-4846-8AAD-B35E-B46831A76A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9A5592-A989-6542-EE15-388CA13C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44750"/>
            <a:ext cx="10515600" cy="797667"/>
          </a:xfrm>
        </p:spPr>
        <p:txBody>
          <a:bodyPr>
            <a:normAutofit/>
          </a:bodyPr>
          <a:lstStyle/>
          <a:p>
            <a:r>
              <a:rPr lang="en-US" sz="2800" dirty="0"/>
              <a:t>4. Key Takeaways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2E147-4849-390D-CA8A-D4C486662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24519"/>
            <a:ext cx="10515600" cy="446513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HCL Tech and Infosys offered the best risk-adjusted journey</a:t>
            </a:r>
            <a:r>
              <a:rPr lang="en-IN" sz="1600" dirty="0">
                <a:solidFill>
                  <a:schemeClr val="tx1"/>
                </a:solidFill>
              </a:rPr>
              <a:t> — strong returns with the smoothest, most consistent growth path and lowest volatility even in big market crashes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OFSS Breakout (2023-2024)</a:t>
            </a:r>
            <a:r>
              <a:rPr lang="en-IN" sz="1600" dirty="0">
                <a:solidFill>
                  <a:schemeClr val="tx1"/>
                </a:solidFill>
              </a:rPr>
              <a:t> – </a:t>
            </a:r>
            <a:r>
              <a:rPr lang="en-IN" sz="1600" b="1" dirty="0">
                <a:solidFill>
                  <a:schemeClr val="tx1"/>
                </a:solidFill>
              </a:rPr>
              <a:t> </a:t>
            </a:r>
            <a:r>
              <a:rPr lang="en-IN" sz="1600" dirty="0">
                <a:solidFill>
                  <a:schemeClr val="tx1"/>
                </a:solidFill>
              </a:rPr>
              <a:t>delivered the highest absolute returns of the group with a dramatic breakout (slide 4), while maintaining mid-range volatility — quietly outperforming the larger IT stocks. Its moderate correlation with all 4 stocks and manageable drawdown profile make it relatively stable for investors looking beyond the usual large-cap IT bets.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Tech Mahindra's high volatility is a double-edged sword</a:t>
            </a:r>
            <a:r>
              <a:rPr lang="en-IN" sz="1600" dirty="0">
                <a:solidFill>
                  <a:schemeClr val="tx1"/>
                </a:solidFill>
              </a:rPr>
              <a:t> — it had explosive rallies (2023–2024) but equally sharp declines , reinforcing why the EMA 10 strategy from slide 8 was proposed specifically for this stock.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9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1014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 Risk &amp; Return Analysis of Indian IT Stocks </vt:lpstr>
      <vt:lpstr>Content</vt:lpstr>
      <vt:lpstr>1. Objective  This report analyses Monthly Closing Prices of 4 Major Indian Information Technology (IT) equities from Financial Year 2018- 2026 to study investment return behaviour, market volatility and inter-stock relationship within the sector and propose a simple risk-based Investment Idea </vt:lpstr>
      <vt:lpstr>2. Pattern Analysis</vt:lpstr>
      <vt:lpstr>   b) Rolling Volatility Plot </vt:lpstr>
      <vt:lpstr>c) Correlation Heatmap</vt:lpstr>
      <vt:lpstr>d) Drawdown Analysis</vt:lpstr>
      <vt:lpstr>3. Trading Risk/ Idea</vt:lpstr>
      <vt:lpstr>3. Trading Risk/ Idea </vt:lpstr>
      <vt:lpstr>4.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Chinmayi Sutar</dc:creator>
  <cp:lastModifiedBy>Chinmayi Sutar</cp:lastModifiedBy>
  <cp:revision>29</cp:revision>
  <dcterms:created xsi:type="dcterms:W3CDTF">2026-05-24T13:07:59Z</dcterms:created>
  <dcterms:modified xsi:type="dcterms:W3CDTF">2026-05-27T05:57:33Z</dcterms:modified>
</cp:coreProperties>
</file>