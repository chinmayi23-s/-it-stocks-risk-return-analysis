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9" r:id="rId3"/>
    <p:sldId id="257" r:id="rId4"/>
    <p:sldId id="262" r:id="rId5"/>
    <p:sldId id="258" r:id="rId6"/>
    <p:sldId id="260" r:id="rId7"/>
    <p:sldId id="261" r:id="rId8"/>
    <p:sldId id="263" r:id="rId9"/>
    <p:sldId id="264" r:id="rId10"/>
    <p:sldId id="265"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050"/>
    <a:srgbClr val="8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DDA9D-FB4F-6249-9E90-E78961FB3D0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AD31AC6F-7F43-A9DD-BE45-55EB59E51AB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8C537C5-B09C-4ED1-2B7E-ACC358932510}"/>
              </a:ext>
            </a:extLst>
          </p:cNvPr>
          <p:cNvSpPr>
            <a:spLocks noGrp="1"/>
          </p:cNvSpPr>
          <p:nvPr>
            <p:ph type="dt" sz="half" idx="10"/>
          </p:nvPr>
        </p:nvSpPr>
        <p:spPr/>
        <p:txBody>
          <a:bodyPr/>
          <a:lstStyle/>
          <a:p>
            <a:fld id="{55B67F99-8E96-4215-A062-0D2B6994D4E8}" type="datetimeFigureOut">
              <a:rPr lang="en-IN" smtClean="0"/>
              <a:t>25-05-2026</a:t>
            </a:fld>
            <a:endParaRPr lang="en-IN"/>
          </a:p>
        </p:txBody>
      </p:sp>
      <p:sp>
        <p:nvSpPr>
          <p:cNvPr id="5" name="Footer Placeholder 4">
            <a:extLst>
              <a:ext uri="{FF2B5EF4-FFF2-40B4-BE49-F238E27FC236}">
                <a16:creationId xmlns:a16="http://schemas.microsoft.com/office/drawing/2014/main" id="{EB72442F-023B-8033-376E-86F2348F236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E1C2ED2-783B-8F8E-FAA4-AD807DD0DE64}"/>
              </a:ext>
            </a:extLst>
          </p:cNvPr>
          <p:cNvSpPr>
            <a:spLocks noGrp="1"/>
          </p:cNvSpPr>
          <p:nvPr>
            <p:ph type="sldNum" sz="quarter" idx="12"/>
          </p:nvPr>
        </p:nvSpPr>
        <p:spPr/>
        <p:txBody>
          <a:bodyPr/>
          <a:lstStyle/>
          <a:p>
            <a:fld id="{18ED1BAA-38FA-4D6F-8E36-E0E9922F1CEB}" type="slidenum">
              <a:rPr lang="en-IN" smtClean="0"/>
              <a:t>‹#›</a:t>
            </a:fld>
            <a:endParaRPr lang="en-IN"/>
          </a:p>
        </p:txBody>
      </p:sp>
    </p:spTree>
    <p:extLst>
      <p:ext uri="{BB962C8B-B14F-4D97-AF65-F5344CB8AC3E}">
        <p14:creationId xmlns:p14="http://schemas.microsoft.com/office/powerpoint/2010/main" val="18946069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BFEF3-7219-CCE0-1C36-0E00FAD123D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071E59F-B1B7-5CF9-74C4-2F247B44452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C89048B-6CCA-0772-0BF7-AF71300F234B}"/>
              </a:ext>
            </a:extLst>
          </p:cNvPr>
          <p:cNvSpPr>
            <a:spLocks noGrp="1"/>
          </p:cNvSpPr>
          <p:nvPr>
            <p:ph type="dt" sz="half" idx="10"/>
          </p:nvPr>
        </p:nvSpPr>
        <p:spPr/>
        <p:txBody>
          <a:bodyPr/>
          <a:lstStyle/>
          <a:p>
            <a:fld id="{55B67F99-8E96-4215-A062-0D2B6994D4E8}" type="datetimeFigureOut">
              <a:rPr lang="en-IN" smtClean="0"/>
              <a:t>25-05-2026</a:t>
            </a:fld>
            <a:endParaRPr lang="en-IN"/>
          </a:p>
        </p:txBody>
      </p:sp>
      <p:sp>
        <p:nvSpPr>
          <p:cNvPr id="5" name="Footer Placeholder 4">
            <a:extLst>
              <a:ext uri="{FF2B5EF4-FFF2-40B4-BE49-F238E27FC236}">
                <a16:creationId xmlns:a16="http://schemas.microsoft.com/office/drawing/2014/main" id="{CAE8FDA7-191C-6A84-94FA-1C68621C944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BCE8D96-4F6D-CCBD-976F-27C3C8D1DF98}"/>
              </a:ext>
            </a:extLst>
          </p:cNvPr>
          <p:cNvSpPr>
            <a:spLocks noGrp="1"/>
          </p:cNvSpPr>
          <p:nvPr>
            <p:ph type="sldNum" sz="quarter" idx="12"/>
          </p:nvPr>
        </p:nvSpPr>
        <p:spPr/>
        <p:txBody>
          <a:bodyPr/>
          <a:lstStyle/>
          <a:p>
            <a:fld id="{18ED1BAA-38FA-4D6F-8E36-E0E9922F1CEB}" type="slidenum">
              <a:rPr lang="en-IN" smtClean="0"/>
              <a:t>‹#›</a:t>
            </a:fld>
            <a:endParaRPr lang="en-IN"/>
          </a:p>
        </p:txBody>
      </p:sp>
    </p:spTree>
    <p:extLst>
      <p:ext uri="{BB962C8B-B14F-4D97-AF65-F5344CB8AC3E}">
        <p14:creationId xmlns:p14="http://schemas.microsoft.com/office/powerpoint/2010/main" val="22243073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0DF5EE-7CE7-84D6-C097-656D45DFF0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048A2176-4383-5F66-C07E-48915A0A2D5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1CFA794-2405-B674-4424-1773E0D7700B}"/>
              </a:ext>
            </a:extLst>
          </p:cNvPr>
          <p:cNvSpPr>
            <a:spLocks noGrp="1"/>
          </p:cNvSpPr>
          <p:nvPr>
            <p:ph type="dt" sz="half" idx="10"/>
          </p:nvPr>
        </p:nvSpPr>
        <p:spPr/>
        <p:txBody>
          <a:bodyPr/>
          <a:lstStyle/>
          <a:p>
            <a:fld id="{55B67F99-8E96-4215-A062-0D2B6994D4E8}" type="datetimeFigureOut">
              <a:rPr lang="en-IN" smtClean="0"/>
              <a:t>25-05-2026</a:t>
            </a:fld>
            <a:endParaRPr lang="en-IN"/>
          </a:p>
        </p:txBody>
      </p:sp>
      <p:sp>
        <p:nvSpPr>
          <p:cNvPr id="5" name="Footer Placeholder 4">
            <a:extLst>
              <a:ext uri="{FF2B5EF4-FFF2-40B4-BE49-F238E27FC236}">
                <a16:creationId xmlns:a16="http://schemas.microsoft.com/office/drawing/2014/main" id="{24459092-72D2-11BC-6644-9C6B7B37FCC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5FF64CB-A2FA-3298-1731-083B8CB7050C}"/>
              </a:ext>
            </a:extLst>
          </p:cNvPr>
          <p:cNvSpPr>
            <a:spLocks noGrp="1"/>
          </p:cNvSpPr>
          <p:nvPr>
            <p:ph type="sldNum" sz="quarter" idx="12"/>
          </p:nvPr>
        </p:nvSpPr>
        <p:spPr/>
        <p:txBody>
          <a:bodyPr/>
          <a:lstStyle/>
          <a:p>
            <a:fld id="{18ED1BAA-38FA-4D6F-8E36-E0E9922F1CEB}" type="slidenum">
              <a:rPr lang="en-IN" smtClean="0"/>
              <a:t>‹#›</a:t>
            </a:fld>
            <a:endParaRPr lang="en-IN"/>
          </a:p>
        </p:txBody>
      </p:sp>
    </p:spTree>
    <p:extLst>
      <p:ext uri="{BB962C8B-B14F-4D97-AF65-F5344CB8AC3E}">
        <p14:creationId xmlns:p14="http://schemas.microsoft.com/office/powerpoint/2010/main" val="27127531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13914-1B65-18AB-EC38-11603A33454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2268837-6D09-550A-1362-B49772BDB42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191E5F01-0264-DB5B-2D22-957AAA8437E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31549D8-040A-E201-7105-2188AC411726}"/>
              </a:ext>
            </a:extLst>
          </p:cNvPr>
          <p:cNvSpPr>
            <a:spLocks noGrp="1"/>
          </p:cNvSpPr>
          <p:nvPr>
            <p:ph type="dt" sz="half" idx="10"/>
          </p:nvPr>
        </p:nvSpPr>
        <p:spPr/>
        <p:txBody>
          <a:bodyPr/>
          <a:lstStyle/>
          <a:p>
            <a:fld id="{55B67F99-8E96-4215-A062-0D2B6994D4E8}" type="datetimeFigureOut">
              <a:rPr lang="en-IN" smtClean="0"/>
              <a:t>25-05-2026</a:t>
            </a:fld>
            <a:endParaRPr lang="en-IN"/>
          </a:p>
        </p:txBody>
      </p:sp>
      <p:sp>
        <p:nvSpPr>
          <p:cNvPr id="6" name="Footer Placeholder 5">
            <a:extLst>
              <a:ext uri="{FF2B5EF4-FFF2-40B4-BE49-F238E27FC236}">
                <a16:creationId xmlns:a16="http://schemas.microsoft.com/office/drawing/2014/main" id="{B1C0F9E7-8293-2414-55F4-FB44E72C462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2609EAB-BDDE-D203-52CB-7BFA70814D6F}"/>
              </a:ext>
            </a:extLst>
          </p:cNvPr>
          <p:cNvSpPr>
            <a:spLocks noGrp="1"/>
          </p:cNvSpPr>
          <p:nvPr>
            <p:ph type="sldNum" sz="quarter" idx="12"/>
          </p:nvPr>
        </p:nvSpPr>
        <p:spPr/>
        <p:txBody>
          <a:bodyPr/>
          <a:lstStyle/>
          <a:p>
            <a:fld id="{18ED1BAA-38FA-4D6F-8E36-E0E9922F1CEB}" type="slidenum">
              <a:rPr lang="en-IN" smtClean="0"/>
              <a:t>‹#›</a:t>
            </a:fld>
            <a:endParaRPr lang="en-IN"/>
          </a:p>
        </p:txBody>
      </p:sp>
    </p:spTree>
    <p:extLst>
      <p:ext uri="{BB962C8B-B14F-4D97-AF65-F5344CB8AC3E}">
        <p14:creationId xmlns:p14="http://schemas.microsoft.com/office/powerpoint/2010/main" val="28220613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35683-42FB-75AC-D4C1-F62356AB661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E9285394-257A-D07E-6B4F-A4301243A3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949DCF5-BE9E-CE22-5297-E0CFF3C537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AA98690-52CE-2417-678C-5DEC997B2DD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91782E5-8286-0EB9-2572-E5F3B6C2C6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B9E6100-3DBC-1B81-9E41-C7948EB3326B}"/>
              </a:ext>
            </a:extLst>
          </p:cNvPr>
          <p:cNvSpPr>
            <a:spLocks noGrp="1"/>
          </p:cNvSpPr>
          <p:nvPr>
            <p:ph type="dt" sz="half" idx="10"/>
          </p:nvPr>
        </p:nvSpPr>
        <p:spPr/>
        <p:txBody>
          <a:bodyPr/>
          <a:lstStyle/>
          <a:p>
            <a:fld id="{55B67F99-8E96-4215-A062-0D2B6994D4E8}" type="datetimeFigureOut">
              <a:rPr lang="en-IN" smtClean="0"/>
              <a:t>25-05-2026</a:t>
            </a:fld>
            <a:endParaRPr lang="en-IN"/>
          </a:p>
        </p:txBody>
      </p:sp>
      <p:sp>
        <p:nvSpPr>
          <p:cNvPr id="8" name="Footer Placeholder 7">
            <a:extLst>
              <a:ext uri="{FF2B5EF4-FFF2-40B4-BE49-F238E27FC236}">
                <a16:creationId xmlns:a16="http://schemas.microsoft.com/office/drawing/2014/main" id="{24F97F6E-BD3C-5CA4-8C50-C90CF1326AA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D31B386D-BF48-CC6F-BCE1-5E00B432EA45}"/>
              </a:ext>
            </a:extLst>
          </p:cNvPr>
          <p:cNvSpPr>
            <a:spLocks noGrp="1"/>
          </p:cNvSpPr>
          <p:nvPr>
            <p:ph type="sldNum" sz="quarter" idx="12"/>
          </p:nvPr>
        </p:nvSpPr>
        <p:spPr/>
        <p:txBody>
          <a:bodyPr/>
          <a:lstStyle/>
          <a:p>
            <a:fld id="{18ED1BAA-38FA-4D6F-8E36-E0E9922F1CEB}" type="slidenum">
              <a:rPr lang="en-IN" smtClean="0"/>
              <a:t>‹#›</a:t>
            </a:fld>
            <a:endParaRPr lang="en-IN"/>
          </a:p>
        </p:txBody>
      </p:sp>
    </p:spTree>
    <p:extLst>
      <p:ext uri="{BB962C8B-B14F-4D97-AF65-F5344CB8AC3E}">
        <p14:creationId xmlns:p14="http://schemas.microsoft.com/office/powerpoint/2010/main" val="502034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55596-E057-238E-1D72-71EEB082271F}"/>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64D27131-B7AC-FC95-AD66-104A6E67EFAC}"/>
              </a:ext>
            </a:extLst>
          </p:cNvPr>
          <p:cNvSpPr>
            <a:spLocks noGrp="1"/>
          </p:cNvSpPr>
          <p:nvPr>
            <p:ph type="dt" sz="half" idx="10"/>
          </p:nvPr>
        </p:nvSpPr>
        <p:spPr/>
        <p:txBody>
          <a:bodyPr/>
          <a:lstStyle/>
          <a:p>
            <a:fld id="{55B67F99-8E96-4215-A062-0D2B6994D4E8}" type="datetimeFigureOut">
              <a:rPr lang="en-IN" smtClean="0"/>
              <a:t>25-05-2026</a:t>
            </a:fld>
            <a:endParaRPr lang="en-IN"/>
          </a:p>
        </p:txBody>
      </p:sp>
      <p:sp>
        <p:nvSpPr>
          <p:cNvPr id="4" name="Footer Placeholder 3">
            <a:extLst>
              <a:ext uri="{FF2B5EF4-FFF2-40B4-BE49-F238E27FC236}">
                <a16:creationId xmlns:a16="http://schemas.microsoft.com/office/drawing/2014/main" id="{60E046F4-415F-6817-D1FC-E50C95F7EC25}"/>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089BC1D-3936-6DDE-8C20-9ED356105125}"/>
              </a:ext>
            </a:extLst>
          </p:cNvPr>
          <p:cNvSpPr>
            <a:spLocks noGrp="1"/>
          </p:cNvSpPr>
          <p:nvPr>
            <p:ph type="sldNum" sz="quarter" idx="12"/>
          </p:nvPr>
        </p:nvSpPr>
        <p:spPr/>
        <p:txBody>
          <a:bodyPr/>
          <a:lstStyle/>
          <a:p>
            <a:fld id="{18ED1BAA-38FA-4D6F-8E36-E0E9922F1CEB}" type="slidenum">
              <a:rPr lang="en-IN" smtClean="0"/>
              <a:t>‹#›</a:t>
            </a:fld>
            <a:endParaRPr lang="en-IN"/>
          </a:p>
        </p:txBody>
      </p:sp>
    </p:spTree>
    <p:extLst>
      <p:ext uri="{BB962C8B-B14F-4D97-AF65-F5344CB8AC3E}">
        <p14:creationId xmlns:p14="http://schemas.microsoft.com/office/powerpoint/2010/main" val="39189433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0CFBF16-D2D1-A90C-5393-BD780DBB57E2}"/>
              </a:ext>
            </a:extLst>
          </p:cNvPr>
          <p:cNvSpPr>
            <a:spLocks noGrp="1"/>
          </p:cNvSpPr>
          <p:nvPr>
            <p:ph type="dt" sz="half" idx="10"/>
          </p:nvPr>
        </p:nvSpPr>
        <p:spPr/>
        <p:txBody>
          <a:bodyPr/>
          <a:lstStyle/>
          <a:p>
            <a:fld id="{55B67F99-8E96-4215-A062-0D2B6994D4E8}" type="datetimeFigureOut">
              <a:rPr lang="en-IN" smtClean="0"/>
              <a:t>25-05-2026</a:t>
            </a:fld>
            <a:endParaRPr lang="en-IN"/>
          </a:p>
        </p:txBody>
      </p:sp>
      <p:sp>
        <p:nvSpPr>
          <p:cNvPr id="3" name="Footer Placeholder 2">
            <a:extLst>
              <a:ext uri="{FF2B5EF4-FFF2-40B4-BE49-F238E27FC236}">
                <a16:creationId xmlns:a16="http://schemas.microsoft.com/office/drawing/2014/main" id="{0F88E1DF-500B-67B0-70A1-3F3D465E9309}"/>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9C0CF118-3BA7-D791-2377-F716281AC823}"/>
              </a:ext>
            </a:extLst>
          </p:cNvPr>
          <p:cNvSpPr>
            <a:spLocks noGrp="1"/>
          </p:cNvSpPr>
          <p:nvPr>
            <p:ph type="sldNum" sz="quarter" idx="12"/>
          </p:nvPr>
        </p:nvSpPr>
        <p:spPr/>
        <p:txBody>
          <a:bodyPr/>
          <a:lstStyle/>
          <a:p>
            <a:fld id="{18ED1BAA-38FA-4D6F-8E36-E0E9922F1CEB}" type="slidenum">
              <a:rPr lang="en-IN" smtClean="0"/>
              <a:t>‹#›</a:t>
            </a:fld>
            <a:endParaRPr lang="en-IN"/>
          </a:p>
        </p:txBody>
      </p:sp>
    </p:spTree>
    <p:extLst>
      <p:ext uri="{BB962C8B-B14F-4D97-AF65-F5344CB8AC3E}">
        <p14:creationId xmlns:p14="http://schemas.microsoft.com/office/powerpoint/2010/main" val="8981634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9E4C6E-B1D8-B6EB-DC68-C862DB7314B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F4051377-32AB-CE20-E5C2-2A9F726370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542C5A6A-692D-728D-DD7F-AB5C6F271A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865105-6E40-4882-7BF4-4139C7BC9E48}"/>
              </a:ext>
            </a:extLst>
          </p:cNvPr>
          <p:cNvSpPr>
            <a:spLocks noGrp="1"/>
          </p:cNvSpPr>
          <p:nvPr>
            <p:ph type="dt" sz="half" idx="10"/>
          </p:nvPr>
        </p:nvSpPr>
        <p:spPr/>
        <p:txBody>
          <a:bodyPr/>
          <a:lstStyle/>
          <a:p>
            <a:fld id="{55B67F99-8E96-4215-A062-0D2B6994D4E8}" type="datetimeFigureOut">
              <a:rPr lang="en-IN" smtClean="0"/>
              <a:t>25-05-2026</a:t>
            </a:fld>
            <a:endParaRPr lang="en-IN"/>
          </a:p>
        </p:txBody>
      </p:sp>
      <p:sp>
        <p:nvSpPr>
          <p:cNvPr id="6" name="Footer Placeholder 5">
            <a:extLst>
              <a:ext uri="{FF2B5EF4-FFF2-40B4-BE49-F238E27FC236}">
                <a16:creationId xmlns:a16="http://schemas.microsoft.com/office/drawing/2014/main" id="{3742C7FD-C294-F207-1C58-44A76FB39B4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434F591-062B-96FA-EFFD-BAED8CB74397}"/>
              </a:ext>
            </a:extLst>
          </p:cNvPr>
          <p:cNvSpPr>
            <a:spLocks noGrp="1"/>
          </p:cNvSpPr>
          <p:nvPr>
            <p:ph type="sldNum" sz="quarter" idx="12"/>
          </p:nvPr>
        </p:nvSpPr>
        <p:spPr/>
        <p:txBody>
          <a:bodyPr/>
          <a:lstStyle/>
          <a:p>
            <a:fld id="{18ED1BAA-38FA-4D6F-8E36-E0E9922F1CEB}" type="slidenum">
              <a:rPr lang="en-IN" smtClean="0"/>
              <a:t>‹#›</a:t>
            </a:fld>
            <a:endParaRPr lang="en-IN"/>
          </a:p>
        </p:txBody>
      </p:sp>
    </p:spTree>
    <p:extLst>
      <p:ext uri="{BB962C8B-B14F-4D97-AF65-F5344CB8AC3E}">
        <p14:creationId xmlns:p14="http://schemas.microsoft.com/office/powerpoint/2010/main" val="2068155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36587-BC95-4774-9EB4-EF0AAF6296D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BA465F-9A6F-D45C-DBCC-5B8952F8548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IN"/>
          </a:p>
        </p:txBody>
      </p:sp>
      <p:sp>
        <p:nvSpPr>
          <p:cNvPr id="4" name="Text Placeholder 3">
            <a:extLst>
              <a:ext uri="{FF2B5EF4-FFF2-40B4-BE49-F238E27FC236}">
                <a16:creationId xmlns:a16="http://schemas.microsoft.com/office/drawing/2014/main" id="{D69CD369-510A-479C-4B59-B35F516D52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A943047-3104-3E7D-8028-E69323C13130}"/>
              </a:ext>
            </a:extLst>
          </p:cNvPr>
          <p:cNvSpPr>
            <a:spLocks noGrp="1"/>
          </p:cNvSpPr>
          <p:nvPr>
            <p:ph type="dt" sz="half" idx="10"/>
          </p:nvPr>
        </p:nvSpPr>
        <p:spPr/>
        <p:txBody>
          <a:bodyPr/>
          <a:lstStyle/>
          <a:p>
            <a:fld id="{55B67F99-8E96-4215-A062-0D2B6994D4E8}" type="datetimeFigureOut">
              <a:rPr lang="en-IN" smtClean="0"/>
              <a:t>25-05-2026</a:t>
            </a:fld>
            <a:endParaRPr lang="en-IN"/>
          </a:p>
        </p:txBody>
      </p:sp>
      <p:sp>
        <p:nvSpPr>
          <p:cNvPr id="6" name="Footer Placeholder 5">
            <a:extLst>
              <a:ext uri="{FF2B5EF4-FFF2-40B4-BE49-F238E27FC236}">
                <a16:creationId xmlns:a16="http://schemas.microsoft.com/office/drawing/2014/main" id="{1E834B15-09A6-2EFD-E759-3946628EB24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E54BB31-37AB-FD89-1C2D-483370973D03}"/>
              </a:ext>
            </a:extLst>
          </p:cNvPr>
          <p:cNvSpPr>
            <a:spLocks noGrp="1"/>
          </p:cNvSpPr>
          <p:nvPr>
            <p:ph type="sldNum" sz="quarter" idx="12"/>
          </p:nvPr>
        </p:nvSpPr>
        <p:spPr/>
        <p:txBody>
          <a:bodyPr/>
          <a:lstStyle/>
          <a:p>
            <a:fld id="{18ED1BAA-38FA-4D6F-8E36-E0E9922F1CEB}" type="slidenum">
              <a:rPr lang="en-IN" smtClean="0"/>
              <a:t>‹#›</a:t>
            </a:fld>
            <a:endParaRPr lang="en-IN"/>
          </a:p>
        </p:txBody>
      </p:sp>
    </p:spTree>
    <p:extLst>
      <p:ext uri="{BB962C8B-B14F-4D97-AF65-F5344CB8AC3E}">
        <p14:creationId xmlns:p14="http://schemas.microsoft.com/office/powerpoint/2010/main" val="1048457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BB374-BFD2-5DB0-38C9-D6040F13009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64D0C1D-8191-B0DD-FBB0-2C4C1E8F33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B7CBB43-79EF-825D-27B7-B2A65FAB966F}"/>
              </a:ext>
            </a:extLst>
          </p:cNvPr>
          <p:cNvSpPr>
            <a:spLocks noGrp="1"/>
          </p:cNvSpPr>
          <p:nvPr>
            <p:ph type="dt" sz="half" idx="10"/>
          </p:nvPr>
        </p:nvSpPr>
        <p:spPr/>
        <p:txBody>
          <a:bodyPr/>
          <a:lstStyle/>
          <a:p>
            <a:fld id="{55B67F99-8E96-4215-A062-0D2B6994D4E8}" type="datetimeFigureOut">
              <a:rPr lang="en-IN" smtClean="0"/>
              <a:t>25-05-2026</a:t>
            </a:fld>
            <a:endParaRPr lang="en-IN"/>
          </a:p>
        </p:txBody>
      </p:sp>
      <p:sp>
        <p:nvSpPr>
          <p:cNvPr id="5" name="Footer Placeholder 4">
            <a:extLst>
              <a:ext uri="{FF2B5EF4-FFF2-40B4-BE49-F238E27FC236}">
                <a16:creationId xmlns:a16="http://schemas.microsoft.com/office/drawing/2014/main" id="{3AC06B3E-142D-322A-E632-BE68292D4C8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B4FD24E-9A3C-48EE-601E-EF3206F2F52B}"/>
              </a:ext>
            </a:extLst>
          </p:cNvPr>
          <p:cNvSpPr>
            <a:spLocks noGrp="1"/>
          </p:cNvSpPr>
          <p:nvPr>
            <p:ph type="sldNum" sz="quarter" idx="12"/>
          </p:nvPr>
        </p:nvSpPr>
        <p:spPr/>
        <p:txBody>
          <a:bodyPr/>
          <a:lstStyle/>
          <a:p>
            <a:fld id="{18ED1BAA-38FA-4D6F-8E36-E0E9922F1CEB}" type="slidenum">
              <a:rPr lang="en-IN" smtClean="0"/>
              <a:t>‹#›</a:t>
            </a:fld>
            <a:endParaRPr lang="en-IN"/>
          </a:p>
        </p:txBody>
      </p:sp>
    </p:spTree>
    <p:extLst>
      <p:ext uri="{BB962C8B-B14F-4D97-AF65-F5344CB8AC3E}">
        <p14:creationId xmlns:p14="http://schemas.microsoft.com/office/powerpoint/2010/main" val="40171514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905CA1E-F3E5-3C4A-2D9F-D99EF478364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E878981-1A1D-16ED-5A1F-412A16799DA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8051802-B198-BAD4-874D-3EBBC7CBB346}"/>
              </a:ext>
            </a:extLst>
          </p:cNvPr>
          <p:cNvSpPr>
            <a:spLocks noGrp="1"/>
          </p:cNvSpPr>
          <p:nvPr>
            <p:ph type="dt" sz="half" idx="10"/>
          </p:nvPr>
        </p:nvSpPr>
        <p:spPr/>
        <p:txBody>
          <a:bodyPr/>
          <a:lstStyle/>
          <a:p>
            <a:fld id="{55B67F99-8E96-4215-A062-0D2B6994D4E8}" type="datetimeFigureOut">
              <a:rPr lang="en-IN" smtClean="0"/>
              <a:t>25-05-2026</a:t>
            </a:fld>
            <a:endParaRPr lang="en-IN"/>
          </a:p>
        </p:txBody>
      </p:sp>
      <p:sp>
        <p:nvSpPr>
          <p:cNvPr id="5" name="Footer Placeholder 4">
            <a:extLst>
              <a:ext uri="{FF2B5EF4-FFF2-40B4-BE49-F238E27FC236}">
                <a16:creationId xmlns:a16="http://schemas.microsoft.com/office/drawing/2014/main" id="{09653D95-80F5-B8F2-4C5B-E3B35983F96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8D6EC72-C102-0A02-FCCF-F4EBB5A971E8}"/>
              </a:ext>
            </a:extLst>
          </p:cNvPr>
          <p:cNvSpPr>
            <a:spLocks noGrp="1"/>
          </p:cNvSpPr>
          <p:nvPr>
            <p:ph type="sldNum" sz="quarter" idx="12"/>
          </p:nvPr>
        </p:nvSpPr>
        <p:spPr/>
        <p:txBody>
          <a:bodyPr/>
          <a:lstStyle/>
          <a:p>
            <a:fld id="{18ED1BAA-38FA-4D6F-8E36-E0E9922F1CEB}" type="slidenum">
              <a:rPr lang="en-IN" smtClean="0"/>
              <a:t>‹#›</a:t>
            </a:fld>
            <a:endParaRPr lang="en-IN"/>
          </a:p>
        </p:txBody>
      </p:sp>
    </p:spTree>
    <p:extLst>
      <p:ext uri="{BB962C8B-B14F-4D97-AF65-F5344CB8AC3E}">
        <p14:creationId xmlns:p14="http://schemas.microsoft.com/office/powerpoint/2010/main" val="19943060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11D2C49-F900-9CC1-BAF5-484CE63CF9E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D079D783-8A6F-4E92-F4E9-0A8FEC17C73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BCE3880-3D09-CBFB-260E-F8DDDFA9277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5B67F99-8E96-4215-A062-0D2B6994D4E8}" type="datetimeFigureOut">
              <a:rPr lang="en-IN" smtClean="0"/>
              <a:t>25-05-2026</a:t>
            </a:fld>
            <a:endParaRPr lang="en-IN"/>
          </a:p>
        </p:txBody>
      </p:sp>
      <p:sp>
        <p:nvSpPr>
          <p:cNvPr id="5" name="Footer Placeholder 4">
            <a:extLst>
              <a:ext uri="{FF2B5EF4-FFF2-40B4-BE49-F238E27FC236}">
                <a16:creationId xmlns:a16="http://schemas.microsoft.com/office/drawing/2014/main" id="{9BC23AFA-3A47-880E-338C-ACE002957AD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D14C21B7-C269-EBB5-D48C-501F84911E8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8ED1BAA-38FA-4D6F-8E36-E0E9922F1CEB}" type="slidenum">
              <a:rPr lang="en-IN" smtClean="0"/>
              <a:t>‹#›</a:t>
            </a:fld>
            <a:endParaRPr lang="en-IN"/>
          </a:p>
        </p:txBody>
      </p:sp>
    </p:spTree>
    <p:extLst>
      <p:ext uri="{BB962C8B-B14F-4D97-AF65-F5344CB8AC3E}">
        <p14:creationId xmlns:p14="http://schemas.microsoft.com/office/powerpoint/2010/main" val="193871689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Chinmayi2396@gmail.com" TargetMode="External"/><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hyperlink" Target="https://github.com/Chinmayi23-S/-IT-Stocks-Risk-Return-Analysis" TargetMode="Externa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3D graphic chart">
            <a:extLst>
              <a:ext uri="{FF2B5EF4-FFF2-40B4-BE49-F238E27FC236}">
                <a16:creationId xmlns:a16="http://schemas.microsoft.com/office/drawing/2014/main" id="{046F1C98-FE2E-23C7-3AB1-29027041FC8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3E6F00F1-A51C-FB0D-FE12-A3C4CF6B2149}"/>
              </a:ext>
            </a:extLst>
          </p:cNvPr>
          <p:cNvSpPr>
            <a:spLocks noGrp="1"/>
          </p:cNvSpPr>
          <p:nvPr>
            <p:ph type="ctrTitle"/>
          </p:nvPr>
        </p:nvSpPr>
        <p:spPr>
          <a:xfrm>
            <a:off x="440602" y="1185738"/>
            <a:ext cx="9144000" cy="2387600"/>
          </a:xfrm>
        </p:spPr>
        <p:txBody>
          <a:bodyPr>
            <a:normAutofit/>
          </a:bodyPr>
          <a:lstStyle/>
          <a:p>
            <a:r>
              <a:rPr lang="en-IN" sz="3100" b="1" dirty="0"/>
              <a:t> </a:t>
            </a:r>
            <a:r>
              <a:rPr lang="en-IN" sz="4000" b="1" dirty="0"/>
              <a:t>Risk &amp; Return Analysis of Indian IT Stocks</a:t>
            </a:r>
            <a:br>
              <a:rPr lang="en-IN" dirty="0"/>
            </a:br>
            <a:endParaRPr lang="en-IN" b="1" dirty="0"/>
          </a:p>
        </p:txBody>
      </p:sp>
      <p:sp>
        <p:nvSpPr>
          <p:cNvPr id="3" name="Subtitle 2">
            <a:extLst>
              <a:ext uri="{FF2B5EF4-FFF2-40B4-BE49-F238E27FC236}">
                <a16:creationId xmlns:a16="http://schemas.microsoft.com/office/drawing/2014/main" id="{A2FE0761-6444-EC98-5960-1CCC79F5D147}"/>
              </a:ext>
            </a:extLst>
          </p:cNvPr>
          <p:cNvSpPr>
            <a:spLocks noGrp="1"/>
          </p:cNvSpPr>
          <p:nvPr>
            <p:ph type="subTitle" idx="1"/>
          </p:nvPr>
        </p:nvSpPr>
        <p:spPr>
          <a:xfrm>
            <a:off x="573933" y="2752254"/>
            <a:ext cx="9010670" cy="821084"/>
          </a:xfrm>
        </p:spPr>
        <p:txBody>
          <a:bodyPr/>
          <a:lstStyle/>
          <a:p>
            <a:pPr algn="l"/>
            <a:r>
              <a:rPr lang="en-US" dirty="0"/>
              <a:t>FY 2018 - 2026</a:t>
            </a:r>
            <a:endParaRPr lang="en-IN" dirty="0"/>
          </a:p>
        </p:txBody>
      </p:sp>
      <p:sp>
        <p:nvSpPr>
          <p:cNvPr id="4" name="TextBox 3">
            <a:extLst>
              <a:ext uri="{FF2B5EF4-FFF2-40B4-BE49-F238E27FC236}">
                <a16:creationId xmlns:a16="http://schemas.microsoft.com/office/drawing/2014/main" id="{B96CA444-A03C-3E95-EB35-76E894BDDA24}"/>
              </a:ext>
            </a:extLst>
          </p:cNvPr>
          <p:cNvSpPr txBox="1"/>
          <p:nvPr/>
        </p:nvSpPr>
        <p:spPr>
          <a:xfrm>
            <a:off x="9267731" y="6183516"/>
            <a:ext cx="3630439" cy="523220"/>
          </a:xfrm>
          <a:prstGeom prst="rect">
            <a:avLst/>
          </a:prstGeom>
          <a:noFill/>
        </p:spPr>
        <p:txBody>
          <a:bodyPr wrap="square" rtlCol="0">
            <a:spAutoFit/>
          </a:bodyPr>
          <a:lstStyle/>
          <a:p>
            <a:r>
              <a:rPr lang="en-US" sz="1400" dirty="0"/>
              <a:t>Reported By : Chinmayi Sutar</a:t>
            </a:r>
          </a:p>
          <a:p>
            <a:r>
              <a:rPr lang="en-US" sz="1400" dirty="0"/>
              <a:t>Email: </a:t>
            </a:r>
            <a:r>
              <a:rPr lang="en-US" sz="1400" dirty="0">
                <a:hlinkClick r:id="rId3"/>
              </a:rPr>
              <a:t>Chinmayi2396@gmail.com</a:t>
            </a:r>
            <a:endParaRPr lang="en-IN" sz="1400" dirty="0"/>
          </a:p>
        </p:txBody>
      </p:sp>
      <p:sp>
        <p:nvSpPr>
          <p:cNvPr id="5" name="TextBox 4">
            <a:extLst>
              <a:ext uri="{FF2B5EF4-FFF2-40B4-BE49-F238E27FC236}">
                <a16:creationId xmlns:a16="http://schemas.microsoft.com/office/drawing/2014/main" id="{F4C24FE8-044B-40AB-3533-C76CB86B302C}"/>
              </a:ext>
            </a:extLst>
          </p:cNvPr>
          <p:cNvSpPr txBox="1"/>
          <p:nvPr/>
        </p:nvSpPr>
        <p:spPr>
          <a:xfrm>
            <a:off x="573932" y="3142426"/>
            <a:ext cx="8664166" cy="369332"/>
          </a:xfrm>
          <a:prstGeom prst="rect">
            <a:avLst/>
          </a:prstGeom>
          <a:noFill/>
        </p:spPr>
        <p:txBody>
          <a:bodyPr wrap="square" rtlCol="0">
            <a:spAutoFit/>
          </a:bodyPr>
          <a:lstStyle/>
          <a:p>
            <a:r>
              <a:rPr lang="en-US" dirty="0">
                <a:hlinkClick r:id="rId4"/>
              </a:rPr>
              <a:t>GitHub Link </a:t>
            </a:r>
            <a:endParaRPr lang="en-IN" dirty="0"/>
          </a:p>
        </p:txBody>
      </p:sp>
    </p:spTree>
    <p:extLst>
      <p:ext uri="{BB962C8B-B14F-4D97-AF65-F5344CB8AC3E}">
        <p14:creationId xmlns:p14="http://schemas.microsoft.com/office/powerpoint/2010/main" val="30359620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9"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3D graphic chart">
            <a:extLst>
              <a:ext uri="{FF2B5EF4-FFF2-40B4-BE49-F238E27FC236}">
                <a16:creationId xmlns:a16="http://schemas.microsoft.com/office/drawing/2014/main" id="{09275014-9E36-C594-D809-C7ABB8B4EC8E}"/>
              </a:ext>
            </a:extLst>
          </p:cNvPr>
          <p:cNvPicPr>
            <a:picLocks noChangeAspect="1"/>
          </p:cNvPicPr>
          <p:nvPr/>
        </p:nvPicPr>
        <p:blipFill>
          <a:blip r:embed="rId2">
            <a:extLst>
              <a:ext uri="{28A0092B-C50C-407E-A947-70E740481C1C}">
                <a14:useLocalDpi xmlns:a14="http://schemas.microsoft.com/office/drawing/2010/main" val="0"/>
              </a:ext>
            </a:extLst>
          </a:blip>
          <a:srcRect t="5750"/>
          <a:stretch>
            <a:fillRect/>
          </a:stretch>
        </p:blipFill>
        <p:spPr>
          <a:xfrm>
            <a:off x="2522356" y="10"/>
            <a:ext cx="9669642" cy="6857990"/>
          </a:xfrm>
          <a:prstGeom prst="rect">
            <a:avLst/>
          </a:prstGeom>
        </p:spPr>
      </p:pic>
      <p:sp>
        <p:nvSpPr>
          <p:cNvPr id="33" name="Rectangle 32">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390263"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Title 2">
            <a:extLst>
              <a:ext uri="{FF2B5EF4-FFF2-40B4-BE49-F238E27FC236}">
                <a16:creationId xmlns:a16="http://schemas.microsoft.com/office/drawing/2014/main" id="{7B353E72-EAE0-8FAF-1E24-F94DC8DCCFA1}"/>
              </a:ext>
            </a:extLst>
          </p:cNvPr>
          <p:cNvSpPr>
            <a:spLocks noGrp="1"/>
          </p:cNvSpPr>
          <p:nvPr>
            <p:ph type="ctrTitle"/>
          </p:nvPr>
        </p:nvSpPr>
        <p:spPr>
          <a:xfrm>
            <a:off x="838200" y="365125"/>
            <a:ext cx="3822189" cy="1899912"/>
          </a:xfrm>
        </p:spPr>
        <p:txBody>
          <a:bodyPr vert="horz" lIns="91440" tIns="45720" rIns="91440" bIns="45720" rtlCol="0" anchor="ctr">
            <a:normAutofit/>
          </a:bodyPr>
          <a:lstStyle/>
          <a:p>
            <a:pPr algn="l"/>
            <a:r>
              <a:rPr lang="en-US" sz="4000"/>
              <a:t>Content</a:t>
            </a:r>
          </a:p>
        </p:txBody>
      </p:sp>
      <p:sp>
        <p:nvSpPr>
          <p:cNvPr id="4" name="Subtitle 3">
            <a:extLst>
              <a:ext uri="{FF2B5EF4-FFF2-40B4-BE49-F238E27FC236}">
                <a16:creationId xmlns:a16="http://schemas.microsoft.com/office/drawing/2014/main" id="{9D6AE642-4FE4-09EC-3A6F-A7928759912A}"/>
              </a:ext>
            </a:extLst>
          </p:cNvPr>
          <p:cNvSpPr>
            <a:spLocks noGrp="1"/>
          </p:cNvSpPr>
          <p:nvPr>
            <p:ph type="subTitle" idx="1"/>
          </p:nvPr>
        </p:nvSpPr>
        <p:spPr>
          <a:xfrm>
            <a:off x="838200" y="1743075"/>
            <a:ext cx="3822189" cy="4433888"/>
          </a:xfrm>
        </p:spPr>
        <p:txBody>
          <a:bodyPr vert="horz" lIns="91440" tIns="45720" rIns="91440" bIns="45720" rtlCol="0">
            <a:normAutofit/>
          </a:bodyPr>
          <a:lstStyle/>
          <a:p>
            <a:pPr marL="571500" indent="-342900" algn="l">
              <a:buFont typeface="+mj-lt"/>
              <a:buAutoNum type="arabicPeriod"/>
            </a:pPr>
            <a:r>
              <a:rPr lang="en-US" sz="1700" dirty="0"/>
              <a:t>Objective</a:t>
            </a:r>
          </a:p>
          <a:p>
            <a:pPr marL="571500" indent="-342900" algn="l">
              <a:buFont typeface="+mj-lt"/>
              <a:buAutoNum type="arabicPeriod"/>
            </a:pPr>
            <a:r>
              <a:rPr lang="en-US" sz="1700" dirty="0"/>
              <a:t>Pattern Analysis</a:t>
            </a:r>
          </a:p>
          <a:p>
            <a:pPr marL="1028700" lvl="1" indent="-342900" algn="l">
              <a:buFont typeface="+mj-lt"/>
              <a:buAutoNum type="alphaLcParenR"/>
            </a:pPr>
            <a:r>
              <a:rPr lang="en-US" sz="1700" dirty="0"/>
              <a:t>Normalized Price Performance</a:t>
            </a:r>
          </a:p>
          <a:p>
            <a:pPr marL="1028700" lvl="1" indent="-342900" algn="l">
              <a:buFont typeface="+mj-lt"/>
              <a:buAutoNum type="alphaLcParenR"/>
            </a:pPr>
            <a:r>
              <a:rPr lang="en-US" sz="1700" dirty="0"/>
              <a:t>Rolling Volatility Plot</a:t>
            </a:r>
          </a:p>
          <a:p>
            <a:pPr marL="1028700" lvl="1" indent="-342900" algn="l">
              <a:buFont typeface="+mj-lt"/>
              <a:buAutoNum type="alphaLcParenR"/>
            </a:pPr>
            <a:r>
              <a:rPr lang="en-US" sz="1700" dirty="0"/>
              <a:t>Correlation Heatmap</a:t>
            </a:r>
          </a:p>
          <a:p>
            <a:pPr marL="1028700" lvl="1" indent="-342900" algn="l">
              <a:buFont typeface="+mj-lt"/>
              <a:buAutoNum type="alphaLcParenR"/>
            </a:pPr>
            <a:r>
              <a:rPr lang="en-US" sz="1700" dirty="0"/>
              <a:t>Drawdown Analysis     </a:t>
            </a:r>
          </a:p>
          <a:p>
            <a:pPr marL="571500" indent="-342900" algn="l">
              <a:buFont typeface="+mj-lt"/>
              <a:buAutoNum type="arabicPeriod"/>
            </a:pPr>
            <a:r>
              <a:rPr lang="en-US" sz="1700" dirty="0"/>
              <a:t>Trading Risk/ Idea</a:t>
            </a:r>
          </a:p>
          <a:p>
            <a:pPr marL="571500" indent="-342900" algn="l">
              <a:buFont typeface="+mj-lt"/>
              <a:buAutoNum type="arabicPeriod"/>
            </a:pPr>
            <a:r>
              <a:rPr lang="en-US" sz="1700" dirty="0"/>
              <a:t>Key Takeaways</a:t>
            </a:r>
          </a:p>
          <a:p>
            <a:pPr algn="l"/>
            <a:r>
              <a:rPr lang="en-US" sz="1700" dirty="0"/>
              <a:t>     5.    Disclaimer</a:t>
            </a:r>
          </a:p>
          <a:p>
            <a:pPr algn="l"/>
            <a:endParaRPr lang="en-US" sz="1700" dirty="0"/>
          </a:p>
        </p:txBody>
      </p:sp>
    </p:spTree>
    <p:extLst>
      <p:ext uri="{BB962C8B-B14F-4D97-AF65-F5344CB8AC3E}">
        <p14:creationId xmlns:p14="http://schemas.microsoft.com/office/powerpoint/2010/main" val="3108192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3D graphic chart">
            <a:extLst>
              <a:ext uri="{FF2B5EF4-FFF2-40B4-BE49-F238E27FC236}">
                <a16:creationId xmlns:a16="http://schemas.microsoft.com/office/drawing/2014/main" id="{F9FE2472-71F0-1B17-2319-5B50CC293600}"/>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AF5A2A12-7924-6A6E-CF3D-B79D4D8DF9A3}"/>
              </a:ext>
            </a:extLst>
          </p:cNvPr>
          <p:cNvSpPr>
            <a:spLocks noGrp="1"/>
          </p:cNvSpPr>
          <p:nvPr>
            <p:ph type="title"/>
          </p:nvPr>
        </p:nvSpPr>
        <p:spPr>
          <a:xfrm>
            <a:off x="838200" y="365125"/>
            <a:ext cx="10515600" cy="1979723"/>
          </a:xfrm>
        </p:spPr>
        <p:txBody>
          <a:bodyPr>
            <a:normAutofit fontScale="90000"/>
          </a:bodyPr>
          <a:lstStyle/>
          <a:p>
            <a:r>
              <a:rPr lang="en-US" dirty="0"/>
              <a:t>1. Objective</a:t>
            </a:r>
            <a:br>
              <a:rPr lang="en-US" dirty="0"/>
            </a:br>
            <a:br>
              <a:rPr lang="en-US" dirty="0"/>
            </a:br>
            <a:r>
              <a:rPr lang="en-IN" sz="1800" dirty="0"/>
              <a:t>This report analyses </a:t>
            </a:r>
            <a:r>
              <a:rPr lang="en-IN" sz="1800" b="1" dirty="0"/>
              <a:t>Monthly Closing Prices</a:t>
            </a:r>
            <a:r>
              <a:rPr lang="en-IN" sz="1800" dirty="0"/>
              <a:t> of 4 Major Indian Information Technology (IT) equities from Financial Year 2018- 2026 to study investment return behaviour, market volatility and inter-stock relationship within the sector and propose a simple risk-based Investment Idea</a:t>
            </a:r>
            <a:br>
              <a:rPr lang="en-IN" sz="1600" dirty="0"/>
            </a:br>
            <a:endParaRPr lang="en-IN" sz="1600" dirty="0"/>
          </a:p>
        </p:txBody>
      </p:sp>
      <p:sp>
        <p:nvSpPr>
          <p:cNvPr id="3" name="Content Placeholder 2">
            <a:extLst>
              <a:ext uri="{FF2B5EF4-FFF2-40B4-BE49-F238E27FC236}">
                <a16:creationId xmlns:a16="http://schemas.microsoft.com/office/drawing/2014/main" id="{FF7372F2-902C-BB93-132B-66E04AF87E8B}"/>
              </a:ext>
            </a:extLst>
          </p:cNvPr>
          <p:cNvSpPr>
            <a:spLocks noGrp="1"/>
          </p:cNvSpPr>
          <p:nvPr>
            <p:ph idx="1"/>
          </p:nvPr>
        </p:nvSpPr>
        <p:spPr>
          <a:xfrm>
            <a:off x="838200" y="2634558"/>
            <a:ext cx="10515600" cy="3542404"/>
          </a:xfrm>
        </p:spPr>
        <p:txBody>
          <a:bodyPr>
            <a:normAutofit lnSpcReduction="10000"/>
          </a:bodyPr>
          <a:lstStyle/>
          <a:p>
            <a:r>
              <a:rPr lang="en-US" sz="1600" b="1" dirty="0"/>
              <a:t>List of IT Stocks</a:t>
            </a:r>
          </a:p>
          <a:p>
            <a:pPr marL="971550" lvl="1" indent="-514350">
              <a:buFont typeface="+mj-lt"/>
              <a:buAutoNum type="arabicPeriod"/>
            </a:pPr>
            <a:r>
              <a:rPr lang="en-US" sz="1600" dirty="0"/>
              <a:t>Infosys</a:t>
            </a:r>
          </a:p>
          <a:p>
            <a:pPr marL="971550" lvl="1" indent="-514350">
              <a:buFont typeface="+mj-lt"/>
              <a:buAutoNum type="arabicPeriod"/>
            </a:pPr>
            <a:r>
              <a:rPr lang="en-US" sz="1600" dirty="0"/>
              <a:t>HCL Tech</a:t>
            </a:r>
          </a:p>
          <a:p>
            <a:pPr marL="971550" lvl="1" indent="-514350">
              <a:buFont typeface="+mj-lt"/>
              <a:buAutoNum type="arabicPeriod"/>
            </a:pPr>
            <a:r>
              <a:rPr lang="en-US" sz="1600" dirty="0"/>
              <a:t>Tech Mahindra</a:t>
            </a:r>
          </a:p>
          <a:p>
            <a:pPr marL="971550" lvl="1" indent="-514350">
              <a:buFont typeface="+mj-lt"/>
              <a:buAutoNum type="arabicPeriod"/>
            </a:pPr>
            <a:r>
              <a:rPr lang="en-US" sz="1600" dirty="0"/>
              <a:t>Oracle Finance Services Software (OFSS)</a:t>
            </a:r>
          </a:p>
          <a:p>
            <a:pPr marL="457200" lvl="1" indent="0">
              <a:buNone/>
            </a:pPr>
            <a:endParaRPr lang="en-US" sz="1600" dirty="0"/>
          </a:p>
          <a:p>
            <a:pPr marL="0" indent="0">
              <a:buNone/>
            </a:pPr>
            <a:r>
              <a:rPr lang="en-US" sz="1600" b="1" dirty="0"/>
              <a:t>Time Period: </a:t>
            </a:r>
            <a:r>
              <a:rPr lang="en-US" sz="1600" dirty="0"/>
              <a:t>Apr 2018 – Mar 2026 (7 years)</a:t>
            </a:r>
          </a:p>
          <a:p>
            <a:pPr marL="0" indent="0">
              <a:buNone/>
            </a:pPr>
            <a:r>
              <a:rPr lang="en-US" sz="1600" b="1" dirty="0"/>
              <a:t>Time Interval: </a:t>
            </a:r>
            <a:r>
              <a:rPr lang="en-US" sz="1600" dirty="0"/>
              <a:t>Monthly</a:t>
            </a:r>
          </a:p>
          <a:p>
            <a:pPr marL="0" indent="0">
              <a:buNone/>
            </a:pPr>
            <a:r>
              <a:rPr lang="en-US" sz="1600" b="1" dirty="0"/>
              <a:t>Data Source: </a:t>
            </a:r>
            <a:r>
              <a:rPr lang="en-US" sz="1600" dirty="0"/>
              <a:t>Yahoo Finance</a:t>
            </a:r>
          </a:p>
          <a:p>
            <a:pPr marL="0" indent="0">
              <a:buNone/>
            </a:pPr>
            <a:r>
              <a:rPr lang="en-US" sz="1600" b="1" dirty="0"/>
              <a:t>Data Analysis Tools &amp; Frameworks: </a:t>
            </a:r>
            <a:r>
              <a:rPr lang="en-US" sz="1600" dirty="0"/>
              <a:t>VS Code, Python (Pandas, </a:t>
            </a:r>
            <a:r>
              <a:rPr lang="en-US" sz="1600" dirty="0" err="1"/>
              <a:t>Numpy</a:t>
            </a:r>
            <a:r>
              <a:rPr lang="en-US" sz="1600" dirty="0"/>
              <a:t>, Matplotlib, Seaborn)</a:t>
            </a:r>
          </a:p>
          <a:p>
            <a:pPr marL="0" indent="0">
              <a:buNone/>
            </a:pPr>
            <a:r>
              <a:rPr lang="en-US" dirty="0"/>
              <a:t>    </a:t>
            </a:r>
          </a:p>
        </p:txBody>
      </p:sp>
    </p:spTree>
    <p:extLst>
      <p:ext uri="{BB962C8B-B14F-4D97-AF65-F5344CB8AC3E}">
        <p14:creationId xmlns:p14="http://schemas.microsoft.com/office/powerpoint/2010/main" val="38942758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3D graphic chart">
            <a:extLst>
              <a:ext uri="{FF2B5EF4-FFF2-40B4-BE49-F238E27FC236}">
                <a16:creationId xmlns:a16="http://schemas.microsoft.com/office/drawing/2014/main" id="{EC8A0295-94DE-BBDA-9B1C-4EAC092A91B2}"/>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160328EA-8390-FB3D-8E8C-D3C70A7EF3A5}"/>
              </a:ext>
            </a:extLst>
          </p:cNvPr>
          <p:cNvSpPr>
            <a:spLocks noGrp="1"/>
          </p:cNvSpPr>
          <p:nvPr>
            <p:ph type="title"/>
          </p:nvPr>
        </p:nvSpPr>
        <p:spPr>
          <a:xfrm>
            <a:off x="839788" y="165371"/>
            <a:ext cx="10804219" cy="684548"/>
          </a:xfrm>
        </p:spPr>
        <p:txBody>
          <a:bodyPr/>
          <a:lstStyle/>
          <a:p>
            <a:r>
              <a:rPr lang="en-US" dirty="0"/>
              <a:t>2. Pattern Analysis</a:t>
            </a:r>
            <a:endParaRPr lang="en-IN" dirty="0"/>
          </a:p>
        </p:txBody>
      </p:sp>
      <p:pic>
        <p:nvPicPr>
          <p:cNvPr id="6" name="Content Placeholder 5">
            <a:extLst>
              <a:ext uri="{FF2B5EF4-FFF2-40B4-BE49-F238E27FC236}">
                <a16:creationId xmlns:a16="http://schemas.microsoft.com/office/drawing/2014/main" id="{EC33D327-F232-49D5-06C2-F4D92FD8B311}"/>
              </a:ext>
            </a:extLst>
          </p:cNvPr>
          <p:cNvPicPr>
            <a:picLocks noGrp="1" noChangeAspect="1"/>
          </p:cNvPicPr>
          <p:nvPr>
            <p:ph idx="1"/>
          </p:nvPr>
        </p:nvPicPr>
        <p:blipFill>
          <a:blip r:embed="rId3"/>
          <a:stretch>
            <a:fillRect/>
          </a:stretch>
        </p:blipFill>
        <p:spPr>
          <a:xfrm>
            <a:off x="4873557" y="1501166"/>
            <a:ext cx="6900878" cy="4705586"/>
          </a:xfrm>
          <a:prstGeom prst="rect">
            <a:avLst/>
          </a:prstGeom>
          <a:ln>
            <a:solidFill>
              <a:schemeClr val="tx1">
                <a:lumMod val="95000"/>
                <a:lumOff val="5000"/>
              </a:schemeClr>
            </a:solidFill>
          </a:ln>
        </p:spPr>
      </p:pic>
      <p:sp>
        <p:nvSpPr>
          <p:cNvPr id="4" name="Text Placeholder 3">
            <a:extLst>
              <a:ext uri="{FF2B5EF4-FFF2-40B4-BE49-F238E27FC236}">
                <a16:creationId xmlns:a16="http://schemas.microsoft.com/office/drawing/2014/main" id="{F96BBB79-B305-D9ED-8F01-FDE4E8DCBAF8}"/>
              </a:ext>
            </a:extLst>
          </p:cNvPr>
          <p:cNvSpPr>
            <a:spLocks noGrp="1"/>
          </p:cNvSpPr>
          <p:nvPr>
            <p:ph type="body" sz="half" idx="2"/>
          </p:nvPr>
        </p:nvSpPr>
        <p:spPr>
          <a:xfrm>
            <a:off x="839788" y="1653703"/>
            <a:ext cx="4033769" cy="4182893"/>
          </a:xfrm>
        </p:spPr>
        <p:txBody>
          <a:bodyPr>
            <a:normAutofit/>
          </a:bodyPr>
          <a:lstStyle/>
          <a:p>
            <a:endParaRPr lang="en-IN" sz="1300" b="1" dirty="0"/>
          </a:p>
          <a:p>
            <a:r>
              <a:rPr lang="en-IN" sz="1300" b="1" dirty="0"/>
              <a:t>OFSS (purple) is the clear long-term winner</a:t>
            </a:r>
            <a:r>
              <a:rPr lang="en-IN" sz="1300" dirty="0"/>
              <a:t> — it ends the period at the highest level. Despite starting at the bottom of the pack in 2018, it surged dramatically from post covid and 2023 onward.</a:t>
            </a:r>
          </a:p>
          <a:p>
            <a:r>
              <a:rPr lang="en-IN" sz="1300" b="1" dirty="0"/>
              <a:t>HCL Tech (green) is the second-best performer</a:t>
            </a:r>
            <a:r>
              <a:rPr lang="en-IN" sz="1300" dirty="0"/>
              <a:t> — it shows steady, consistent growth throughout the period</a:t>
            </a:r>
          </a:p>
          <a:p>
            <a:r>
              <a:rPr lang="en-IN" sz="1300" b="1" dirty="0"/>
              <a:t>Infosys (blue) tracks closely with HCL Tech</a:t>
            </a:r>
            <a:r>
              <a:rPr lang="en-IN" sz="1300" dirty="0"/>
              <a:t> for most of the period but diverges slightly lower toward 2025–2026</a:t>
            </a:r>
            <a:endParaRPr lang="en-IN" sz="1300" b="1" dirty="0"/>
          </a:p>
          <a:p>
            <a:r>
              <a:rPr lang="en-IN" sz="1300" b="1" dirty="0"/>
              <a:t>Tech Mahindra (red) is the weakest performer</a:t>
            </a:r>
            <a:r>
              <a:rPr lang="en-IN" sz="1300" dirty="0"/>
              <a:t> — it's the only stock that spends significant time </a:t>
            </a:r>
            <a:r>
              <a:rPr lang="en-IN" sz="1300" i="1" dirty="0"/>
              <a:t>below</a:t>
            </a:r>
            <a:r>
              <a:rPr lang="en-IN" sz="1300" dirty="0"/>
              <a:t> its starting value (2018–2020), and despite a strong 2023–2024 rally, it has pulled back sharply into 2026.</a:t>
            </a:r>
            <a:endParaRPr lang="en-IN" dirty="0"/>
          </a:p>
        </p:txBody>
      </p:sp>
      <p:sp>
        <p:nvSpPr>
          <p:cNvPr id="8" name="TextBox 7">
            <a:extLst>
              <a:ext uri="{FF2B5EF4-FFF2-40B4-BE49-F238E27FC236}">
                <a16:creationId xmlns:a16="http://schemas.microsoft.com/office/drawing/2014/main" id="{477655A3-E1AA-2624-2698-9B976863238B}"/>
              </a:ext>
            </a:extLst>
          </p:cNvPr>
          <p:cNvSpPr txBox="1"/>
          <p:nvPr/>
        </p:nvSpPr>
        <p:spPr>
          <a:xfrm>
            <a:off x="4348263" y="849918"/>
            <a:ext cx="5418306" cy="461665"/>
          </a:xfrm>
          <a:prstGeom prst="rect">
            <a:avLst/>
          </a:prstGeom>
          <a:noFill/>
        </p:spPr>
        <p:txBody>
          <a:bodyPr wrap="square" rtlCol="0">
            <a:spAutoFit/>
          </a:bodyPr>
          <a:lstStyle/>
          <a:p>
            <a:r>
              <a:rPr lang="en-US" sz="2400" dirty="0"/>
              <a:t>a) Normalized Price Performance</a:t>
            </a:r>
            <a:endParaRPr lang="en-IN" sz="2400" dirty="0"/>
          </a:p>
        </p:txBody>
      </p:sp>
    </p:spTree>
    <p:extLst>
      <p:ext uri="{BB962C8B-B14F-4D97-AF65-F5344CB8AC3E}">
        <p14:creationId xmlns:p14="http://schemas.microsoft.com/office/powerpoint/2010/main" val="4749461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5" name="Picture 24" descr="3D graphic chart">
            <a:extLst>
              <a:ext uri="{FF2B5EF4-FFF2-40B4-BE49-F238E27FC236}">
                <a16:creationId xmlns:a16="http://schemas.microsoft.com/office/drawing/2014/main" id="{F19AC3B0-2D4F-1A10-B6B0-A125AB489385}"/>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10" name="Title 9">
            <a:extLst>
              <a:ext uri="{FF2B5EF4-FFF2-40B4-BE49-F238E27FC236}">
                <a16:creationId xmlns:a16="http://schemas.microsoft.com/office/drawing/2014/main" id="{D6E74DC9-064A-3E5F-EFA1-A105852B67B1}"/>
              </a:ext>
            </a:extLst>
          </p:cNvPr>
          <p:cNvSpPr>
            <a:spLocks noGrp="1"/>
          </p:cNvSpPr>
          <p:nvPr>
            <p:ph type="title"/>
          </p:nvPr>
        </p:nvSpPr>
        <p:spPr>
          <a:xfrm>
            <a:off x="573958" y="603114"/>
            <a:ext cx="11205048" cy="762383"/>
          </a:xfrm>
        </p:spPr>
        <p:txBody>
          <a:bodyPr>
            <a:noAutofit/>
          </a:bodyPr>
          <a:lstStyle/>
          <a:p>
            <a:pPr algn="ctr"/>
            <a:br>
              <a:rPr lang="en-US" sz="2400" dirty="0"/>
            </a:br>
            <a:br>
              <a:rPr lang="en-US" sz="2400" dirty="0"/>
            </a:br>
            <a:br>
              <a:rPr lang="en-US" sz="2400" dirty="0"/>
            </a:br>
            <a:r>
              <a:rPr lang="en-US" sz="2400" dirty="0"/>
              <a:t>b) Rolling Volatility Plot</a:t>
            </a:r>
            <a:br>
              <a:rPr lang="en-US" sz="2400" dirty="0"/>
            </a:br>
            <a:endParaRPr lang="en-IN" sz="2400" dirty="0"/>
          </a:p>
        </p:txBody>
      </p:sp>
      <p:sp>
        <p:nvSpPr>
          <p:cNvPr id="12" name="Text Placeholder 11">
            <a:extLst>
              <a:ext uri="{FF2B5EF4-FFF2-40B4-BE49-F238E27FC236}">
                <a16:creationId xmlns:a16="http://schemas.microsoft.com/office/drawing/2014/main" id="{5C20E48B-8C61-C0D6-FF24-5C4054B7FFF1}"/>
              </a:ext>
            </a:extLst>
          </p:cNvPr>
          <p:cNvSpPr>
            <a:spLocks noGrp="1"/>
          </p:cNvSpPr>
          <p:nvPr>
            <p:ph type="body" sz="half" idx="2"/>
          </p:nvPr>
        </p:nvSpPr>
        <p:spPr>
          <a:xfrm>
            <a:off x="451333" y="1295473"/>
            <a:ext cx="3932237" cy="837446"/>
          </a:xfrm>
        </p:spPr>
        <p:txBody>
          <a:bodyPr>
            <a:normAutofit/>
          </a:bodyPr>
          <a:lstStyle/>
          <a:p>
            <a:r>
              <a:rPr lang="en-US" b="1" dirty="0"/>
              <a:t>Annualized Volatility</a:t>
            </a:r>
          </a:p>
          <a:p>
            <a:r>
              <a:rPr lang="en-IN" sz="1200" dirty="0"/>
              <a:t>Measures price fluctuations (Risk)</a:t>
            </a:r>
            <a:br>
              <a:rPr lang="en-IN" sz="1200" dirty="0"/>
            </a:br>
            <a:r>
              <a:rPr lang="en-IN" sz="1200" dirty="0"/>
              <a:t>Higher Volatility = Higher Uncertainty/risk</a:t>
            </a:r>
            <a:endParaRPr lang="en-US" sz="1200" b="1" dirty="0"/>
          </a:p>
          <a:p>
            <a:endParaRPr lang="en-US" b="1" dirty="0"/>
          </a:p>
        </p:txBody>
      </p:sp>
      <p:graphicFrame>
        <p:nvGraphicFramePr>
          <p:cNvPr id="15" name="Table 14">
            <a:extLst>
              <a:ext uri="{FF2B5EF4-FFF2-40B4-BE49-F238E27FC236}">
                <a16:creationId xmlns:a16="http://schemas.microsoft.com/office/drawing/2014/main" id="{19868ECE-26D6-A9C9-A64D-2AC1F12EC371}"/>
              </a:ext>
            </a:extLst>
          </p:cNvPr>
          <p:cNvGraphicFramePr>
            <a:graphicFrameLocks noGrp="1"/>
          </p:cNvGraphicFramePr>
          <p:nvPr>
            <p:extLst>
              <p:ext uri="{D42A27DB-BD31-4B8C-83A1-F6EECF244321}">
                <p14:modId xmlns:p14="http://schemas.microsoft.com/office/powerpoint/2010/main" val="2278612250"/>
              </p:ext>
            </p:extLst>
          </p:nvPr>
        </p:nvGraphicFramePr>
        <p:xfrm>
          <a:off x="451333" y="2279698"/>
          <a:ext cx="4080040" cy="1832050"/>
        </p:xfrm>
        <a:graphic>
          <a:graphicData uri="http://schemas.openxmlformats.org/drawingml/2006/table">
            <a:tbl>
              <a:tblPr firstRow="1" bandRow="1">
                <a:tableStyleId>{5C22544A-7EE6-4342-B048-85BDC9FD1C3A}</a:tableStyleId>
              </a:tblPr>
              <a:tblGrid>
                <a:gridCol w="634071">
                  <a:extLst>
                    <a:ext uri="{9D8B030D-6E8A-4147-A177-3AD203B41FA5}">
                      <a16:colId xmlns:a16="http://schemas.microsoft.com/office/drawing/2014/main" val="3370614980"/>
                    </a:ext>
                  </a:extLst>
                </a:gridCol>
                <a:gridCol w="1981414">
                  <a:extLst>
                    <a:ext uri="{9D8B030D-6E8A-4147-A177-3AD203B41FA5}">
                      <a16:colId xmlns:a16="http://schemas.microsoft.com/office/drawing/2014/main" val="2212392863"/>
                    </a:ext>
                  </a:extLst>
                </a:gridCol>
                <a:gridCol w="1464555">
                  <a:extLst>
                    <a:ext uri="{9D8B030D-6E8A-4147-A177-3AD203B41FA5}">
                      <a16:colId xmlns:a16="http://schemas.microsoft.com/office/drawing/2014/main" val="2530416996"/>
                    </a:ext>
                  </a:extLst>
                </a:gridCol>
              </a:tblGrid>
              <a:tr h="317346">
                <a:tc>
                  <a:txBody>
                    <a:bodyPr/>
                    <a:lstStyle/>
                    <a:p>
                      <a:r>
                        <a:rPr lang="en-US" sz="1400" dirty="0"/>
                        <a:t>Rank</a:t>
                      </a:r>
                      <a:endParaRPr lang="en-IN" sz="1400" dirty="0"/>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r>
                        <a:rPr lang="en-US" sz="1400" dirty="0"/>
                        <a:t>Stock </a:t>
                      </a:r>
                      <a:endParaRPr lang="en-IN" sz="1400" dirty="0"/>
                    </a:p>
                  </a:txBody>
                  <a:tcPr>
                    <a:lnT w="12700" cap="flat" cmpd="sng" algn="ctr">
                      <a:solidFill>
                        <a:schemeClr val="tx1"/>
                      </a:solidFill>
                      <a:prstDash val="solid"/>
                      <a:round/>
                      <a:headEnd type="none" w="med" len="med"/>
                      <a:tailEnd type="none" w="med" len="med"/>
                    </a:lnT>
                  </a:tcPr>
                </a:tc>
                <a:tc>
                  <a:txBody>
                    <a:bodyPr/>
                    <a:lstStyle/>
                    <a:p>
                      <a:r>
                        <a:rPr lang="en-US" sz="1400" dirty="0"/>
                        <a:t>Volatility (%)</a:t>
                      </a:r>
                      <a:endParaRPr lang="en-IN" sz="1400" dirty="0"/>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883885941"/>
                  </a:ext>
                </a:extLst>
              </a:tr>
              <a:tr h="367909">
                <a:tc>
                  <a:txBody>
                    <a:bodyPr/>
                    <a:lstStyle/>
                    <a:p>
                      <a:r>
                        <a:rPr lang="en-US" sz="1400" dirty="0"/>
                        <a:t>1</a:t>
                      </a:r>
                      <a:endParaRPr lang="en-IN" sz="1400" dirty="0"/>
                    </a:p>
                  </a:txBody>
                  <a:tcPr>
                    <a:lnL w="12700" cap="flat" cmpd="sng" algn="ctr">
                      <a:solidFill>
                        <a:schemeClr val="tx1"/>
                      </a:solidFill>
                      <a:prstDash val="solid"/>
                      <a:round/>
                      <a:headEnd type="none" w="med" len="med"/>
                      <a:tailEnd type="none" w="med" len="med"/>
                    </a:lnL>
                  </a:tcPr>
                </a:tc>
                <a:tc>
                  <a:txBody>
                    <a:bodyPr/>
                    <a:lstStyle/>
                    <a:p>
                      <a:r>
                        <a:rPr lang="en-US" sz="1400" dirty="0"/>
                        <a:t>Tech Mahindra</a:t>
                      </a:r>
                      <a:endParaRPr lang="en-IN" sz="1400" dirty="0"/>
                    </a:p>
                  </a:txBody>
                  <a:tcPr/>
                </a:tc>
                <a:tc>
                  <a:txBody>
                    <a:bodyPr/>
                    <a:lstStyle/>
                    <a:p>
                      <a:r>
                        <a:rPr lang="en-US" sz="1400" dirty="0"/>
                        <a:t>36.52</a:t>
                      </a:r>
                      <a:endParaRPr lang="en-IN" sz="1400" dirty="0"/>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668179164"/>
                  </a:ext>
                </a:extLst>
              </a:tr>
              <a:tr h="382265">
                <a:tc>
                  <a:txBody>
                    <a:bodyPr/>
                    <a:lstStyle/>
                    <a:p>
                      <a:r>
                        <a:rPr lang="en-US" sz="1400" dirty="0"/>
                        <a:t>2</a:t>
                      </a:r>
                      <a:endParaRPr lang="en-IN" sz="1400" dirty="0"/>
                    </a:p>
                  </a:txBody>
                  <a:tcPr>
                    <a:lnL w="12700" cap="flat" cmpd="sng" algn="ctr">
                      <a:solidFill>
                        <a:schemeClr val="tx1"/>
                      </a:solidFill>
                      <a:prstDash val="solid"/>
                      <a:round/>
                      <a:headEnd type="none" w="med" len="med"/>
                      <a:tailEnd type="none" w="med" len="med"/>
                    </a:lnL>
                  </a:tcPr>
                </a:tc>
                <a:tc>
                  <a:txBody>
                    <a:bodyPr/>
                    <a:lstStyle/>
                    <a:p>
                      <a:r>
                        <a:rPr lang="en-US" sz="1400" dirty="0"/>
                        <a:t>OFSS</a:t>
                      </a:r>
                      <a:endParaRPr lang="en-IN" sz="1400" dirty="0"/>
                    </a:p>
                  </a:txBody>
                  <a:tcPr/>
                </a:tc>
                <a:tc>
                  <a:txBody>
                    <a:bodyPr/>
                    <a:lstStyle/>
                    <a:p>
                      <a:r>
                        <a:rPr lang="en-US" sz="1400" dirty="0"/>
                        <a:t>29.79</a:t>
                      </a:r>
                      <a:endParaRPr lang="en-IN" sz="1400" dirty="0"/>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103694151"/>
                  </a:ext>
                </a:extLst>
              </a:tr>
              <a:tr h="382265">
                <a:tc>
                  <a:txBody>
                    <a:bodyPr/>
                    <a:lstStyle/>
                    <a:p>
                      <a:r>
                        <a:rPr lang="en-US" sz="1400" dirty="0"/>
                        <a:t>3</a:t>
                      </a:r>
                      <a:endParaRPr lang="en-IN" sz="1400" dirty="0"/>
                    </a:p>
                  </a:txBody>
                  <a:tcPr>
                    <a:lnL w="12700" cap="flat" cmpd="sng" algn="ctr">
                      <a:solidFill>
                        <a:schemeClr val="tx1"/>
                      </a:solidFill>
                      <a:prstDash val="solid"/>
                      <a:round/>
                      <a:headEnd type="none" w="med" len="med"/>
                      <a:tailEnd type="none" w="med" len="med"/>
                    </a:lnL>
                  </a:tcPr>
                </a:tc>
                <a:tc>
                  <a:txBody>
                    <a:bodyPr/>
                    <a:lstStyle/>
                    <a:p>
                      <a:r>
                        <a:rPr lang="en-US" sz="1400" dirty="0"/>
                        <a:t>Infosys</a:t>
                      </a:r>
                      <a:endParaRPr lang="en-IN" sz="1400" dirty="0"/>
                    </a:p>
                  </a:txBody>
                  <a:tcPr/>
                </a:tc>
                <a:tc>
                  <a:txBody>
                    <a:bodyPr/>
                    <a:lstStyle/>
                    <a:p>
                      <a:r>
                        <a:rPr lang="en-US" sz="1400" dirty="0"/>
                        <a:t>28.55</a:t>
                      </a:r>
                      <a:endParaRPr lang="en-IN" sz="1400" dirty="0"/>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90314653"/>
                  </a:ext>
                </a:extLst>
              </a:tr>
              <a:tr h="382265">
                <a:tc>
                  <a:txBody>
                    <a:bodyPr/>
                    <a:lstStyle/>
                    <a:p>
                      <a:r>
                        <a:rPr lang="en-US" sz="1400" dirty="0"/>
                        <a:t>4</a:t>
                      </a:r>
                      <a:endParaRPr lang="en-IN" sz="1400" dirty="0"/>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r>
                        <a:rPr lang="en-US" sz="1400" dirty="0"/>
                        <a:t>HCL Tech</a:t>
                      </a:r>
                      <a:endParaRPr lang="en-IN" sz="1400" dirty="0"/>
                    </a:p>
                  </a:txBody>
                  <a:tcPr>
                    <a:lnB w="12700" cap="flat" cmpd="sng" algn="ctr">
                      <a:solidFill>
                        <a:schemeClr val="tx1"/>
                      </a:solidFill>
                      <a:prstDash val="solid"/>
                      <a:round/>
                      <a:headEnd type="none" w="med" len="med"/>
                      <a:tailEnd type="none" w="med" len="med"/>
                    </a:lnB>
                  </a:tcPr>
                </a:tc>
                <a:tc>
                  <a:txBody>
                    <a:bodyPr/>
                    <a:lstStyle/>
                    <a:p>
                      <a:r>
                        <a:rPr lang="en-US" sz="1400" dirty="0"/>
                        <a:t>26.70</a:t>
                      </a:r>
                      <a:endParaRPr lang="en-IN" sz="1400" dirty="0"/>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11077086"/>
                  </a:ext>
                </a:extLst>
              </a:tr>
            </a:tbl>
          </a:graphicData>
        </a:graphic>
      </p:graphicFrame>
      <p:sp>
        <p:nvSpPr>
          <p:cNvPr id="20" name="TextBox 19"/>
          <p:cNvSpPr txBox="1"/>
          <p:nvPr/>
        </p:nvSpPr>
        <p:spPr>
          <a:xfrm>
            <a:off x="451333" y="4290115"/>
            <a:ext cx="3932237" cy="2032864"/>
          </a:xfrm>
          <a:prstGeom prst="rect">
            <a:avLst/>
          </a:prstGeom>
          <a:noFill/>
        </p:spPr>
        <p:txBody>
          <a:bodyPr wrap="square" lIns="91440" tIns="45720" rIns="91440" bIns="45720" rtlCol="0" anchor="t"/>
          <a:lstStyle/>
          <a:p>
            <a:r>
              <a:rPr lang="en-US" sz="1400" b="1" dirty="0"/>
              <a:t>Insights</a:t>
            </a:r>
          </a:p>
          <a:p>
            <a:endParaRPr lang="en-US" sz="1200" b="1" dirty="0"/>
          </a:p>
          <a:p>
            <a:pPr marL="171450" indent="-171450">
              <a:buChar char="•"/>
            </a:pPr>
            <a:r>
              <a:rPr lang="en-US" sz="1200" dirty="0"/>
              <a:t>Tech Mahindra is the most volatile (36.52%), about 10% points more volatile than HCL Tech (26.70%).</a:t>
            </a:r>
          </a:p>
          <a:p>
            <a:endParaRPr lang="en-US" sz="1200" dirty="0"/>
          </a:p>
          <a:p>
            <a:pPr marL="171450" indent="-171450">
              <a:buChar char="•"/>
            </a:pPr>
            <a:r>
              <a:rPr lang="en-US" sz="1200" dirty="0"/>
              <a:t>OFSS and Infosys show similar mid-range risk profiles (28–30%).</a:t>
            </a:r>
          </a:p>
          <a:p>
            <a:pPr marL="171450" indent="-171450">
              <a:buChar char="•"/>
            </a:pPr>
            <a:endParaRPr lang="en-US" sz="1200" dirty="0"/>
          </a:p>
          <a:p>
            <a:pPr marL="171450" indent="-171450">
              <a:buChar char="•"/>
            </a:pPr>
            <a:r>
              <a:rPr lang="en-US" sz="1200" dirty="0"/>
              <a:t>All stocks spike during market stress, with Tech Mahindra swinging the most.</a:t>
            </a:r>
          </a:p>
        </p:txBody>
      </p:sp>
      <p:pic>
        <p:nvPicPr>
          <p:cNvPr id="24" name="Content Placeholder 23">
            <a:extLst>
              <a:ext uri="{FF2B5EF4-FFF2-40B4-BE49-F238E27FC236}">
                <a16:creationId xmlns:a16="http://schemas.microsoft.com/office/drawing/2014/main" id="{3A4A5EF2-6205-865D-1CEB-91604394B354}"/>
              </a:ext>
            </a:extLst>
          </p:cNvPr>
          <p:cNvPicPr>
            <a:picLocks noGrp="1" noChangeAspect="1"/>
          </p:cNvPicPr>
          <p:nvPr>
            <p:ph idx="1"/>
          </p:nvPr>
        </p:nvPicPr>
        <p:blipFill>
          <a:blip r:embed="rId3"/>
          <a:stretch>
            <a:fillRect/>
          </a:stretch>
        </p:blipFill>
        <p:spPr>
          <a:xfrm>
            <a:off x="4737371" y="1365497"/>
            <a:ext cx="7276290" cy="5054757"/>
          </a:xfrm>
          <a:prstGeom prst="rect">
            <a:avLst/>
          </a:prstGeom>
          <a:ln>
            <a:solidFill>
              <a:schemeClr val="tx1"/>
            </a:solidFill>
          </a:ln>
        </p:spPr>
      </p:pic>
    </p:spTree>
    <p:extLst>
      <p:ext uri="{BB962C8B-B14F-4D97-AF65-F5344CB8AC3E}">
        <p14:creationId xmlns:p14="http://schemas.microsoft.com/office/powerpoint/2010/main" val="3808241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3D graphic chart">
            <a:extLst>
              <a:ext uri="{FF2B5EF4-FFF2-40B4-BE49-F238E27FC236}">
                <a16:creationId xmlns:a16="http://schemas.microsoft.com/office/drawing/2014/main" id="{29E460C7-3293-04EA-D4B0-59AB755FF44B}"/>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4FCA8B31-31DA-B58B-AA65-5710C63ACF54}"/>
              </a:ext>
            </a:extLst>
          </p:cNvPr>
          <p:cNvSpPr>
            <a:spLocks noGrp="1"/>
          </p:cNvSpPr>
          <p:nvPr>
            <p:ph type="title"/>
          </p:nvPr>
        </p:nvSpPr>
        <p:spPr>
          <a:xfrm>
            <a:off x="839788" y="496111"/>
            <a:ext cx="10531846" cy="535022"/>
          </a:xfrm>
        </p:spPr>
        <p:txBody>
          <a:bodyPr>
            <a:normAutofit/>
          </a:bodyPr>
          <a:lstStyle/>
          <a:p>
            <a:pPr algn="ctr"/>
            <a:r>
              <a:rPr lang="en-US" sz="2400" dirty="0"/>
              <a:t>c) Correlation Heatmap</a:t>
            </a:r>
            <a:endParaRPr lang="en-IN" sz="2400" dirty="0"/>
          </a:p>
        </p:txBody>
      </p:sp>
      <p:pic>
        <p:nvPicPr>
          <p:cNvPr id="6" name="Content Placeholder 5">
            <a:extLst>
              <a:ext uri="{FF2B5EF4-FFF2-40B4-BE49-F238E27FC236}">
                <a16:creationId xmlns:a16="http://schemas.microsoft.com/office/drawing/2014/main" id="{0E2F0314-D615-CFFC-8AFB-312D6A7725EF}"/>
              </a:ext>
            </a:extLst>
          </p:cNvPr>
          <p:cNvPicPr>
            <a:picLocks noGrp="1" noChangeAspect="1"/>
          </p:cNvPicPr>
          <p:nvPr>
            <p:ph idx="1"/>
          </p:nvPr>
        </p:nvPicPr>
        <p:blipFill>
          <a:blip r:embed="rId3"/>
          <a:stretch>
            <a:fillRect/>
          </a:stretch>
        </p:blipFill>
        <p:spPr>
          <a:xfrm>
            <a:off x="5718765" y="1124355"/>
            <a:ext cx="5633447" cy="4129391"/>
          </a:xfrm>
          <a:prstGeom prst="rect">
            <a:avLst/>
          </a:prstGeom>
          <a:ln>
            <a:solidFill>
              <a:schemeClr val="tx1"/>
            </a:solidFill>
          </a:ln>
        </p:spPr>
      </p:pic>
      <p:sp>
        <p:nvSpPr>
          <p:cNvPr id="4" name="Text Placeholder 3">
            <a:extLst>
              <a:ext uri="{FF2B5EF4-FFF2-40B4-BE49-F238E27FC236}">
                <a16:creationId xmlns:a16="http://schemas.microsoft.com/office/drawing/2014/main" id="{F22D45EC-A103-311A-FF8B-1BDC060F6E0A}"/>
              </a:ext>
            </a:extLst>
          </p:cNvPr>
          <p:cNvSpPr>
            <a:spLocks noGrp="1"/>
          </p:cNvSpPr>
          <p:nvPr>
            <p:ph type="body" sz="half" idx="2"/>
          </p:nvPr>
        </p:nvSpPr>
        <p:spPr>
          <a:xfrm>
            <a:off x="839788" y="1124356"/>
            <a:ext cx="4432603" cy="5441814"/>
          </a:xfrm>
        </p:spPr>
        <p:txBody>
          <a:bodyPr>
            <a:normAutofit/>
          </a:bodyPr>
          <a:lstStyle/>
          <a:p>
            <a:pPr marL="285750" indent="-285750">
              <a:buFont typeface="Arial" panose="020B0604020202020204" pitchFamily="34" charset="0"/>
              <a:buChar char="•"/>
            </a:pPr>
            <a:endParaRPr lang="en-IN" b="1" dirty="0"/>
          </a:p>
          <a:p>
            <a:pPr marL="285750" indent="-285750">
              <a:buFont typeface="Arial" panose="020B0604020202020204" pitchFamily="34" charset="0"/>
              <a:buChar char="•"/>
            </a:pPr>
            <a:r>
              <a:rPr lang="en-IN" sz="1400" dirty="0"/>
              <a:t>Correlation between monthly returns was analysed to assess diversification benefits within the IT sector</a:t>
            </a:r>
          </a:p>
          <a:p>
            <a:endParaRPr lang="en-IN" b="1" dirty="0"/>
          </a:p>
          <a:p>
            <a:r>
              <a:rPr lang="en-IN" sz="1400" b="1" dirty="0"/>
              <a:t>Insights</a:t>
            </a:r>
          </a:p>
          <a:p>
            <a:endParaRPr lang="en-IN" sz="1200" b="1" dirty="0"/>
          </a:p>
          <a:p>
            <a:pPr marL="285750" indent="-285750">
              <a:buFont typeface="Arial" panose="020B0604020202020204" pitchFamily="34" charset="0"/>
              <a:buChar char="•"/>
            </a:pPr>
            <a:r>
              <a:rPr lang="en-IN" sz="1200" b="1" dirty="0"/>
              <a:t>Infosys, HCL Tech &amp; OFSS </a:t>
            </a:r>
            <a:r>
              <a:rPr lang="en-IN" sz="1200" dirty="0"/>
              <a:t>(0.65–0.70) — meaning they tend to rise and fall together, reducing the benefit of holding all 3.</a:t>
            </a:r>
          </a:p>
          <a:p>
            <a:pPr marL="285750" indent="-285750">
              <a:buFont typeface="Arial" panose="020B0604020202020204" pitchFamily="34" charset="0"/>
              <a:buChar char="•"/>
            </a:pPr>
            <a:r>
              <a:rPr lang="en-IN" sz="1200" b="1" dirty="0"/>
              <a:t>Tech Mahindra is the outlier </a:t>
            </a:r>
            <a:r>
              <a:rPr lang="en-IN" sz="1200" dirty="0"/>
              <a:t>(0.34 -0.43) -</a:t>
            </a:r>
            <a:r>
              <a:rPr lang="en-IN" sz="1200" b="1" dirty="0"/>
              <a:t> </a:t>
            </a:r>
            <a:r>
              <a:rPr lang="en-IN" sz="1200" dirty="0"/>
              <a:t>moves more independently, which, combined with its higher volatility from slide 4, offering a high-risk / high-diversification trade-off.</a:t>
            </a:r>
          </a:p>
          <a:p>
            <a:pPr marL="285750" indent="-285750">
              <a:buFont typeface="Arial" panose="020B0604020202020204" pitchFamily="34" charset="0"/>
              <a:buChar char="•"/>
            </a:pPr>
            <a:r>
              <a:rPr lang="en-IN" sz="1200" b="1" dirty="0"/>
              <a:t>Optimal two-stock pair: HCL Tech + Tech Mahindra</a:t>
            </a:r>
            <a:r>
              <a:rPr lang="en-IN" sz="1200" dirty="0"/>
              <a:t> — combines the lowest volatility with the lowest correlation for maximum risk reduction.</a:t>
            </a:r>
          </a:p>
        </p:txBody>
      </p:sp>
      <p:graphicFrame>
        <p:nvGraphicFramePr>
          <p:cNvPr id="10" name="Table 9">
            <a:extLst>
              <a:ext uri="{FF2B5EF4-FFF2-40B4-BE49-F238E27FC236}">
                <a16:creationId xmlns:a16="http://schemas.microsoft.com/office/drawing/2014/main" id="{927AF371-E9D3-33D4-8345-83AC6D8CCCBF}"/>
              </a:ext>
            </a:extLst>
          </p:cNvPr>
          <p:cNvGraphicFramePr>
            <a:graphicFrameLocks noGrp="1"/>
          </p:cNvGraphicFramePr>
          <p:nvPr>
            <p:extLst>
              <p:ext uri="{D42A27DB-BD31-4B8C-83A1-F6EECF244321}">
                <p14:modId xmlns:p14="http://schemas.microsoft.com/office/powerpoint/2010/main" val="53515265"/>
              </p:ext>
            </p:extLst>
          </p:nvPr>
        </p:nvGraphicFramePr>
        <p:xfrm>
          <a:off x="5718765" y="5483156"/>
          <a:ext cx="4153677" cy="1219200"/>
        </p:xfrm>
        <a:graphic>
          <a:graphicData uri="http://schemas.openxmlformats.org/drawingml/2006/table">
            <a:tbl>
              <a:tblPr>
                <a:tableStyleId>{284E427A-3D55-4303-BF80-6455036E1DE7}</a:tableStyleId>
              </a:tblPr>
              <a:tblGrid>
                <a:gridCol w="1690059">
                  <a:extLst>
                    <a:ext uri="{9D8B030D-6E8A-4147-A177-3AD203B41FA5}">
                      <a16:colId xmlns:a16="http://schemas.microsoft.com/office/drawing/2014/main" val="1712278319"/>
                    </a:ext>
                  </a:extLst>
                </a:gridCol>
                <a:gridCol w="2463618">
                  <a:extLst>
                    <a:ext uri="{9D8B030D-6E8A-4147-A177-3AD203B41FA5}">
                      <a16:colId xmlns:a16="http://schemas.microsoft.com/office/drawing/2014/main" val="2480014356"/>
                    </a:ext>
                  </a:extLst>
                </a:gridCol>
              </a:tblGrid>
              <a:tr h="218479">
                <a:tc>
                  <a:txBody>
                    <a:bodyPr/>
                    <a:lstStyle/>
                    <a:p>
                      <a:pPr>
                        <a:buNone/>
                      </a:pPr>
                      <a:r>
                        <a:rPr lang="en-IN" sz="1000" b="1" dirty="0"/>
                        <a:t>Correlation</a:t>
                      </a:r>
                    </a:p>
                  </a:txBody>
                  <a:tcPr anchor="ctr"/>
                </a:tc>
                <a:tc>
                  <a:txBody>
                    <a:bodyPr/>
                    <a:lstStyle/>
                    <a:p>
                      <a:pPr>
                        <a:buNone/>
                      </a:pPr>
                      <a:r>
                        <a:rPr lang="en-IN" sz="1000" b="1" dirty="0"/>
                        <a:t>Meaning</a:t>
                      </a:r>
                    </a:p>
                  </a:txBody>
                  <a:tcPr anchor="ctr"/>
                </a:tc>
                <a:extLst>
                  <a:ext uri="{0D108BD9-81ED-4DB2-BD59-A6C34878D82A}">
                    <a16:rowId xmlns:a16="http://schemas.microsoft.com/office/drawing/2014/main" val="1704119697"/>
                  </a:ext>
                </a:extLst>
              </a:tr>
              <a:tr h="218479">
                <a:tc>
                  <a:txBody>
                    <a:bodyPr/>
                    <a:lstStyle/>
                    <a:p>
                      <a:pPr>
                        <a:buNone/>
                      </a:pPr>
                      <a:r>
                        <a:rPr lang="en-IN" sz="1000" b="1" dirty="0">
                          <a:solidFill>
                            <a:srgbClr val="800000"/>
                          </a:solidFill>
                        </a:rPr>
                        <a:t>+1.0</a:t>
                      </a:r>
                      <a:endParaRPr lang="en-IN" sz="1000" dirty="0">
                        <a:solidFill>
                          <a:srgbClr val="800000"/>
                        </a:solidFill>
                      </a:endParaRPr>
                    </a:p>
                  </a:txBody>
                  <a:tcPr anchor="ctr"/>
                </a:tc>
                <a:tc>
                  <a:txBody>
                    <a:bodyPr/>
                    <a:lstStyle/>
                    <a:p>
                      <a:pPr>
                        <a:buNone/>
                      </a:pPr>
                      <a:r>
                        <a:rPr lang="en-IN" sz="1000" dirty="0"/>
                        <a:t>Move exactly together</a:t>
                      </a:r>
                    </a:p>
                  </a:txBody>
                  <a:tcPr anchor="ctr"/>
                </a:tc>
                <a:extLst>
                  <a:ext uri="{0D108BD9-81ED-4DB2-BD59-A6C34878D82A}">
                    <a16:rowId xmlns:a16="http://schemas.microsoft.com/office/drawing/2014/main" val="971462863"/>
                  </a:ext>
                </a:extLst>
              </a:tr>
              <a:tr h="218479">
                <a:tc>
                  <a:txBody>
                    <a:bodyPr/>
                    <a:lstStyle/>
                    <a:p>
                      <a:pPr>
                        <a:buNone/>
                      </a:pPr>
                      <a:r>
                        <a:rPr lang="en-IN" sz="1000" b="1" dirty="0">
                          <a:solidFill>
                            <a:schemeClr val="accent2">
                              <a:lumMod val="75000"/>
                            </a:schemeClr>
                          </a:solidFill>
                        </a:rPr>
                        <a:t>0.7 – 0.9</a:t>
                      </a:r>
                      <a:endParaRPr lang="en-IN" sz="1000" dirty="0">
                        <a:solidFill>
                          <a:schemeClr val="accent2">
                            <a:lumMod val="75000"/>
                          </a:schemeClr>
                        </a:solidFill>
                      </a:endParaRPr>
                    </a:p>
                  </a:txBody>
                  <a:tcPr anchor="ctr"/>
                </a:tc>
                <a:tc>
                  <a:txBody>
                    <a:bodyPr/>
                    <a:lstStyle/>
                    <a:p>
                      <a:pPr>
                        <a:buNone/>
                      </a:pPr>
                      <a:r>
                        <a:rPr lang="en-IN" sz="1000" dirty="0"/>
                        <a:t>Strong positive relationship</a:t>
                      </a:r>
                    </a:p>
                  </a:txBody>
                  <a:tcPr anchor="ctr"/>
                </a:tc>
                <a:extLst>
                  <a:ext uri="{0D108BD9-81ED-4DB2-BD59-A6C34878D82A}">
                    <a16:rowId xmlns:a16="http://schemas.microsoft.com/office/drawing/2014/main" val="1009258735"/>
                  </a:ext>
                </a:extLst>
              </a:tr>
              <a:tr h="218479">
                <a:tc>
                  <a:txBody>
                    <a:bodyPr/>
                    <a:lstStyle/>
                    <a:p>
                      <a:pPr>
                        <a:buNone/>
                      </a:pPr>
                      <a:r>
                        <a:rPr lang="en-IN" sz="1000" b="1" dirty="0">
                          <a:solidFill>
                            <a:srgbClr val="FF5050"/>
                          </a:solidFill>
                        </a:rPr>
                        <a:t>0.4 – 0.6</a:t>
                      </a:r>
                      <a:endParaRPr lang="en-IN" sz="1000" dirty="0">
                        <a:solidFill>
                          <a:srgbClr val="FF5050"/>
                        </a:solidFill>
                      </a:endParaRPr>
                    </a:p>
                  </a:txBody>
                  <a:tcPr anchor="ctr"/>
                </a:tc>
                <a:tc>
                  <a:txBody>
                    <a:bodyPr/>
                    <a:lstStyle/>
                    <a:p>
                      <a:pPr>
                        <a:buNone/>
                      </a:pPr>
                      <a:r>
                        <a:rPr lang="en-IN" sz="1000"/>
                        <a:t>Moderate relationship</a:t>
                      </a:r>
                    </a:p>
                  </a:txBody>
                  <a:tcPr anchor="ctr"/>
                </a:tc>
                <a:extLst>
                  <a:ext uri="{0D108BD9-81ED-4DB2-BD59-A6C34878D82A}">
                    <a16:rowId xmlns:a16="http://schemas.microsoft.com/office/drawing/2014/main" val="1114914719"/>
                  </a:ext>
                </a:extLst>
              </a:tr>
              <a:tr h="229681">
                <a:tc>
                  <a:txBody>
                    <a:bodyPr/>
                    <a:lstStyle/>
                    <a:p>
                      <a:pPr>
                        <a:buNone/>
                      </a:pPr>
                      <a:r>
                        <a:rPr lang="en-IN" sz="1000" b="1" dirty="0">
                          <a:solidFill>
                            <a:schemeClr val="accent2">
                              <a:lumMod val="20000"/>
                              <a:lumOff val="80000"/>
                            </a:schemeClr>
                          </a:solidFill>
                        </a:rPr>
                        <a:t>0.0</a:t>
                      </a:r>
                      <a:endParaRPr lang="en-IN" sz="1000" dirty="0">
                        <a:solidFill>
                          <a:schemeClr val="accent2">
                            <a:lumMod val="20000"/>
                            <a:lumOff val="80000"/>
                          </a:schemeClr>
                        </a:solidFill>
                      </a:endParaRPr>
                    </a:p>
                  </a:txBody>
                  <a:tcPr anchor="ctr"/>
                </a:tc>
                <a:tc>
                  <a:txBody>
                    <a:bodyPr/>
                    <a:lstStyle/>
                    <a:p>
                      <a:pPr>
                        <a:buNone/>
                      </a:pPr>
                      <a:r>
                        <a:rPr lang="en-IN" sz="1000" dirty="0"/>
                        <a:t>No relationship</a:t>
                      </a:r>
                    </a:p>
                  </a:txBody>
                  <a:tcPr anchor="ctr"/>
                </a:tc>
                <a:extLst>
                  <a:ext uri="{0D108BD9-81ED-4DB2-BD59-A6C34878D82A}">
                    <a16:rowId xmlns:a16="http://schemas.microsoft.com/office/drawing/2014/main" val="4074023420"/>
                  </a:ext>
                </a:extLst>
              </a:tr>
            </a:tbl>
          </a:graphicData>
        </a:graphic>
      </p:graphicFrame>
    </p:spTree>
    <p:extLst>
      <p:ext uri="{BB962C8B-B14F-4D97-AF65-F5344CB8AC3E}">
        <p14:creationId xmlns:p14="http://schemas.microsoft.com/office/powerpoint/2010/main" val="6445692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3D graphic chart">
            <a:extLst>
              <a:ext uri="{FF2B5EF4-FFF2-40B4-BE49-F238E27FC236}">
                <a16:creationId xmlns:a16="http://schemas.microsoft.com/office/drawing/2014/main" id="{6116F494-C4B9-2BE2-8089-9DF06465B577}"/>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63374" y="0"/>
            <a:ext cx="12128625" cy="6858000"/>
          </a:xfrm>
          <a:prstGeom prst="rect">
            <a:avLst/>
          </a:prstGeom>
        </p:spPr>
      </p:pic>
      <p:sp>
        <p:nvSpPr>
          <p:cNvPr id="2" name="Title 1">
            <a:extLst>
              <a:ext uri="{FF2B5EF4-FFF2-40B4-BE49-F238E27FC236}">
                <a16:creationId xmlns:a16="http://schemas.microsoft.com/office/drawing/2014/main" id="{3DFB0EE0-FCBF-2EC5-5BB1-DA0B94DC7DA2}"/>
              </a:ext>
            </a:extLst>
          </p:cNvPr>
          <p:cNvSpPr>
            <a:spLocks noGrp="1"/>
          </p:cNvSpPr>
          <p:nvPr>
            <p:ph type="title"/>
          </p:nvPr>
        </p:nvSpPr>
        <p:spPr>
          <a:xfrm>
            <a:off x="839788" y="603115"/>
            <a:ext cx="10515600" cy="622570"/>
          </a:xfrm>
        </p:spPr>
        <p:txBody>
          <a:bodyPr>
            <a:normAutofit/>
          </a:bodyPr>
          <a:lstStyle/>
          <a:p>
            <a:pPr algn="ctr"/>
            <a:r>
              <a:rPr lang="en-US" sz="2400" dirty="0"/>
              <a:t>d) Drawdown Analysis</a:t>
            </a:r>
            <a:endParaRPr lang="en-IN" sz="2400" dirty="0"/>
          </a:p>
        </p:txBody>
      </p:sp>
      <p:sp>
        <p:nvSpPr>
          <p:cNvPr id="4" name="Text Placeholder 3">
            <a:extLst>
              <a:ext uri="{FF2B5EF4-FFF2-40B4-BE49-F238E27FC236}">
                <a16:creationId xmlns:a16="http://schemas.microsoft.com/office/drawing/2014/main" id="{5C5D4670-A2EE-55E9-87F3-7A7CE561ED32}"/>
              </a:ext>
            </a:extLst>
          </p:cNvPr>
          <p:cNvSpPr>
            <a:spLocks noGrp="1"/>
          </p:cNvSpPr>
          <p:nvPr>
            <p:ph type="body" sz="half" idx="2"/>
          </p:nvPr>
        </p:nvSpPr>
        <p:spPr>
          <a:xfrm>
            <a:off x="353438" y="1459150"/>
            <a:ext cx="3932237" cy="4484450"/>
          </a:xfrm>
        </p:spPr>
        <p:txBody>
          <a:bodyPr>
            <a:normAutofit fontScale="92500" lnSpcReduction="20000"/>
          </a:bodyPr>
          <a:lstStyle/>
          <a:p>
            <a:pPr marL="285750" indent="-285750">
              <a:buFont typeface="Arial" panose="020B0604020202020204" pitchFamily="34" charset="0"/>
              <a:buChar char="•"/>
            </a:pPr>
            <a:r>
              <a:rPr lang="en-IN" dirty="0"/>
              <a:t>Drawdown measures how far a stock falls from its previous peak.</a:t>
            </a:r>
          </a:p>
          <a:p>
            <a:endParaRPr lang="en-IN" dirty="0"/>
          </a:p>
          <a:p>
            <a:r>
              <a:rPr lang="en-IN" sz="1500" b="1" dirty="0"/>
              <a:t>Insights</a:t>
            </a:r>
          </a:p>
          <a:p>
            <a:pPr marL="228600" indent="-228600">
              <a:buAutoNum type="arabicPeriod"/>
            </a:pPr>
            <a:r>
              <a:rPr lang="en-IN" sz="1300" b="1" dirty="0"/>
              <a:t>2020 COVID Crash</a:t>
            </a:r>
          </a:p>
          <a:p>
            <a:pPr marL="171450" indent="-171450">
              <a:buFontTx/>
              <a:buChar char="-"/>
            </a:pPr>
            <a:r>
              <a:rPr lang="en-IN" sz="1300" dirty="0" err="1"/>
              <a:t>TechM</a:t>
            </a:r>
            <a:r>
              <a:rPr lang="en-IN" sz="1300" dirty="0"/>
              <a:t> and OFSS recorded deepest drawdown, falling close to 40% from all time high</a:t>
            </a:r>
          </a:p>
          <a:p>
            <a:pPr marL="171450" indent="-171450">
              <a:buFontTx/>
              <a:buChar char="-"/>
            </a:pPr>
            <a:r>
              <a:rPr lang="en-IN" sz="1300" dirty="0"/>
              <a:t>Infosys and HCL Tech declined but recovered relatively faster</a:t>
            </a:r>
          </a:p>
          <a:p>
            <a:endParaRPr lang="en-IN" sz="1300" dirty="0"/>
          </a:p>
          <a:p>
            <a:r>
              <a:rPr lang="en-IN" sz="1300" b="1" dirty="0"/>
              <a:t>2. 2022 Inflation and Global Slowdown</a:t>
            </a:r>
          </a:p>
          <a:p>
            <a:pPr marL="171450" indent="-171450">
              <a:buFontTx/>
              <a:buChar char="-"/>
            </a:pPr>
            <a:r>
              <a:rPr lang="en-IN" sz="1300" dirty="0"/>
              <a:t>OFSS showed steepest prolonged drawdowns</a:t>
            </a:r>
          </a:p>
          <a:p>
            <a:endParaRPr lang="en-IN" sz="1300" dirty="0"/>
          </a:p>
          <a:p>
            <a:pPr marL="228600" indent="-228600">
              <a:buAutoNum type="arabicPeriod" startAt="3"/>
            </a:pPr>
            <a:r>
              <a:rPr lang="en-IN" sz="1300" b="1" dirty="0"/>
              <a:t>2025-2026 ongoing AI-Driven IT Rerating Phase</a:t>
            </a:r>
          </a:p>
          <a:p>
            <a:pPr marL="171450" indent="-171450">
              <a:buFontTx/>
              <a:buChar char="-"/>
            </a:pPr>
            <a:r>
              <a:rPr lang="en-IN" sz="1300" dirty="0" err="1"/>
              <a:t>TechM</a:t>
            </a:r>
            <a:r>
              <a:rPr lang="en-IN" sz="1300" dirty="0"/>
              <a:t> currently exhibits sharpest drawdown among four, indicating higher market uncertainty</a:t>
            </a:r>
          </a:p>
          <a:p>
            <a:pPr marL="171450" indent="-171450">
              <a:buFontTx/>
              <a:buChar char="-"/>
            </a:pPr>
            <a:endParaRPr lang="en-IN" sz="1300" b="1" dirty="0"/>
          </a:p>
          <a:p>
            <a:r>
              <a:rPr lang="en-IN" sz="1300" b="1" dirty="0"/>
              <a:t>Infosys and HCL Tech demonstrated comparatively better resilience in all 3 market crashes </a:t>
            </a:r>
          </a:p>
          <a:p>
            <a:endParaRPr lang="en-IN" sz="1200" b="1" dirty="0"/>
          </a:p>
        </p:txBody>
      </p:sp>
      <p:pic>
        <p:nvPicPr>
          <p:cNvPr id="10" name="Content Placeholder 9">
            <a:extLst>
              <a:ext uri="{FF2B5EF4-FFF2-40B4-BE49-F238E27FC236}">
                <a16:creationId xmlns:a16="http://schemas.microsoft.com/office/drawing/2014/main" id="{1F10E7E4-2678-02CD-C7A3-81171D7888E1}"/>
              </a:ext>
            </a:extLst>
          </p:cNvPr>
          <p:cNvPicPr>
            <a:picLocks noGrp="1" noChangeAspect="1"/>
          </p:cNvPicPr>
          <p:nvPr>
            <p:ph idx="1"/>
          </p:nvPr>
        </p:nvPicPr>
        <p:blipFill>
          <a:blip r:embed="rId3"/>
          <a:stretch>
            <a:fillRect/>
          </a:stretch>
        </p:blipFill>
        <p:spPr>
          <a:xfrm>
            <a:off x="4659550" y="1459151"/>
            <a:ext cx="7286017" cy="4795734"/>
          </a:xfrm>
          <a:prstGeom prst="rect">
            <a:avLst/>
          </a:prstGeom>
          <a:ln>
            <a:solidFill>
              <a:schemeClr val="tx1"/>
            </a:solidFill>
          </a:ln>
        </p:spPr>
      </p:pic>
    </p:spTree>
    <p:extLst>
      <p:ext uri="{BB962C8B-B14F-4D97-AF65-F5344CB8AC3E}">
        <p14:creationId xmlns:p14="http://schemas.microsoft.com/office/powerpoint/2010/main" val="3188444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A13803-9820-22F0-BDBA-CA2CD542228B}"/>
              </a:ext>
            </a:extLst>
          </p:cNvPr>
          <p:cNvSpPr>
            <a:spLocks noGrp="1"/>
          </p:cNvSpPr>
          <p:nvPr>
            <p:ph type="title"/>
          </p:nvPr>
        </p:nvSpPr>
        <p:spPr>
          <a:xfrm>
            <a:off x="382588" y="523728"/>
            <a:ext cx="7399540" cy="530225"/>
          </a:xfrm>
        </p:spPr>
        <p:txBody>
          <a:bodyPr>
            <a:normAutofit fontScale="90000"/>
          </a:bodyPr>
          <a:lstStyle/>
          <a:p>
            <a:r>
              <a:rPr lang="en-US" dirty="0"/>
              <a:t>3. Trading Risk/ Idea</a:t>
            </a:r>
            <a:endParaRPr lang="en-IN" dirty="0"/>
          </a:p>
        </p:txBody>
      </p:sp>
      <p:pic>
        <p:nvPicPr>
          <p:cNvPr id="6" name="Content Placeholder 5">
            <a:extLst>
              <a:ext uri="{FF2B5EF4-FFF2-40B4-BE49-F238E27FC236}">
                <a16:creationId xmlns:a16="http://schemas.microsoft.com/office/drawing/2014/main" id="{2C057FAB-96FB-0A77-193F-08F39BF7B78D}"/>
              </a:ext>
            </a:extLst>
          </p:cNvPr>
          <p:cNvPicPr>
            <a:picLocks noGrp="1" noChangeAspect="1"/>
          </p:cNvPicPr>
          <p:nvPr>
            <p:ph idx="1"/>
          </p:nvPr>
        </p:nvPicPr>
        <p:blipFill>
          <a:blip r:embed="rId2"/>
          <a:stretch>
            <a:fillRect/>
          </a:stretch>
        </p:blipFill>
        <p:spPr>
          <a:xfrm>
            <a:off x="6021420" y="815234"/>
            <a:ext cx="6031150" cy="4854102"/>
          </a:xfrm>
          <a:prstGeom prst="rect">
            <a:avLst/>
          </a:prstGeom>
          <a:ln>
            <a:solidFill>
              <a:schemeClr val="tx1"/>
            </a:solidFill>
          </a:ln>
        </p:spPr>
      </p:pic>
      <p:sp>
        <p:nvSpPr>
          <p:cNvPr id="4" name="Text Placeholder 3">
            <a:extLst>
              <a:ext uri="{FF2B5EF4-FFF2-40B4-BE49-F238E27FC236}">
                <a16:creationId xmlns:a16="http://schemas.microsoft.com/office/drawing/2014/main" id="{DFDAEF49-F191-5C6E-FA14-865C95A9B01F}"/>
              </a:ext>
            </a:extLst>
          </p:cNvPr>
          <p:cNvSpPr>
            <a:spLocks noGrp="1"/>
          </p:cNvSpPr>
          <p:nvPr>
            <p:ph type="body" sz="half" idx="2"/>
          </p:nvPr>
        </p:nvSpPr>
        <p:spPr>
          <a:xfrm>
            <a:off x="382587" y="1488332"/>
            <a:ext cx="6031149" cy="1332689"/>
          </a:xfrm>
        </p:spPr>
        <p:txBody>
          <a:bodyPr>
            <a:noAutofit/>
          </a:bodyPr>
          <a:lstStyle/>
          <a:p>
            <a:pPr>
              <a:lnSpc>
                <a:spcPct val="0"/>
              </a:lnSpc>
              <a:spcBef>
                <a:spcPts val="0"/>
              </a:spcBef>
            </a:pPr>
            <a:endParaRPr lang="en-IN" sz="1200" b="1" dirty="0"/>
          </a:p>
          <a:p>
            <a:pPr>
              <a:lnSpc>
                <a:spcPct val="0"/>
              </a:lnSpc>
              <a:spcBef>
                <a:spcPts val="0"/>
              </a:spcBef>
            </a:pPr>
            <a:r>
              <a:rPr lang="en-IN" sz="1200" b="1" dirty="0"/>
              <a:t> </a:t>
            </a:r>
          </a:p>
          <a:p>
            <a:pPr>
              <a:lnSpc>
                <a:spcPct val="0"/>
              </a:lnSpc>
              <a:spcBef>
                <a:spcPts val="0"/>
              </a:spcBef>
            </a:pPr>
            <a:endParaRPr lang="en-IN" sz="1200" b="1" dirty="0"/>
          </a:p>
          <a:p>
            <a:pPr>
              <a:lnSpc>
                <a:spcPct val="0"/>
              </a:lnSpc>
              <a:spcBef>
                <a:spcPts val="0"/>
              </a:spcBef>
            </a:pPr>
            <a:endParaRPr lang="en-IN" sz="1200" b="1" dirty="0"/>
          </a:p>
          <a:p>
            <a:pPr>
              <a:lnSpc>
                <a:spcPct val="0"/>
              </a:lnSpc>
              <a:spcBef>
                <a:spcPts val="0"/>
              </a:spcBef>
            </a:pPr>
            <a:endParaRPr lang="en-IN" sz="1200" b="1" dirty="0"/>
          </a:p>
          <a:p>
            <a:pPr>
              <a:lnSpc>
                <a:spcPct val="0"/>
              </a:lnSpc>
              <a:spcBef>
                <a:spcPts val="0"/>
              </a:spcBef>
            </a:pPr>
            <a:endParaRPr lang="en-IN" sz="1200" b="1" dirty="0"/>
          </a:p>
          <a:p>
            <a:pPr>
              <a:lnSpc>
                <a:spcPct val="0"/>
              </a:lnSpc>
              <a:spcBef>
                <a:spcPts val="0"/>
              </a:spcBef>
            </a:pPr>
            <a:endParaRPr lang="en-IN" sz="1200" b="1" dirty="0"/>
          </a:p>
          <a:p>
            <a:pPr>
              <a:lnSpc>
                <a:spcPct val="0"/>
              </a:lnSpc>
              <a:spcBef>
                <a:spcPts val="0"/>
              </a:spcBef>
            </a:pPr>
            <a:r>
              <a:rPr lang="en-IN" sz="1200" b="1" dirty="0"/>
              <a:t>EMA 10 Strategy vs Buy &amp; Hold — Tech Mahindra (FY 2018–2026)</a:t>
            </a:r>
          </a:p>
          <a:p>
            <a:pPr>
              <a:lnSpc>
                <a:spcPct val="0"/>
              </a:lnSpc>
            </a:pPr>
            <a:endParaRPr lang="en-IN" sz="1200" dirty="0"/>
          </a:p>
          <a:p>
            <a:pPr>
              <a:lnSpc>
                <a:spcPct val="0"/>
              </a:lnSpc>
            </a:pPr>
            <a:r>
              <a:rPr lang="en-IN" sz="1200" dirty="0"/>
              <a:t>The EMA 10 approach is a momentum-based timing strategy </a:t>
            </a:r>
          </a:p>
          <a:p>
            <a:pPr>
              <a:lnSpc>
                <a:spcPct val="0"/>
              </a:lnSpc>
            </a:pPr>
            <a:endParaRPr lang="en-IN" sz="1200" dirty="0"/>
          </a:p>
          <a:p>
            <a:pPr marL="285750" indent="-285750">
              <a:lnSpc>
                <a:spcPct val="0"/>
              </a:lnSpc>
              <a:buFontTx/>
              <a:buChar char="-"/>
            </a:pPr>
            <a:r>
              <a:rPr lang="en-IN" sz="1200" dirty="0"/>
              <a:t>buy when the monthly close is above the 10-month Exponential Moving Average, </a:t>
            </a:r>
          </a:p>
          <a:p>
            <a:pPr marL="285750" indent="-285750">
              <a:lnSpc>
                <a:spcPct val="0"/>
              </a:lnSpc>
              <a:buFontTx/>
              <a:buChar char="-"/>
            </a:pPr>
            <a:r>
              <a:rPr lang="en-IN" sz="1200" dirty="0"/>
              <a:t>sell (or halve allocation) when it drops below EMA 10</a:t>
            </a:r>
          </a:p>
          <a:p>
            <a:pPr marL="285750" indent="-285750">
              <a:lnSpc>
                <a:spcPct val="0"/>
              </a:lnSpc>
              <a:buFontTx/>
              <a:buChar char="-"/>
            </a:pPr>
            <a:endParaRPr lang="en-IN" sz="1200" dirty="0"/>
          </a:p>
          <a:p>
            <a:pPr>
              <a:lnSpc>
                <a:spcPct val="0"/>
              </a:lnSpc>
            </a:pPr>
            <a:r>
              <a:rPr lang="en-IN" sz="1200" dirty="0"/>
              <a:t>It's designed to sidestep Tech Mahindra's high volatility identified earlier (36.52%).</a:t>
            </a:r>
          </a:p>
        </p:txBody>
      </p:sp>
      <p:sp>
        <p:nvSpPr>
          <p:cNvPr id="7" name="TextBox 6">
            <a:extLst>
              <a:ext uri="{FF2B5EF4-FFF2-40B4-BE49-F238E27FC236}">
                <a16:creationId xmlns:a16="http://schemas.microsoft.com/office/drawing/2014/main" id="{5552CBB5-0A04-8204-DCC2-A3840C685ED3}"/>
              </a:ext>
            </a:extLst>
          </p:cNvPr>
          <p:cNvSpPr txBox="1"/>
          <p:nvPr/>
        </p:nvSpPr>
        <p:spPr>
          <a:xfrm>
            <a:off x="382586" y="2228671"/>
            <a:ext cx="4951378" cy="2400657"/>
          </a:xfrm>
          <a:prstGeom prst="rect">
            <a:avLst/>
          </a:prstGeom>
          <a:noFill/>
        </p:spPr>
        <p:txBody>
          <a:bodyPr wrap="square" rtlCol="0">
            <a:spAutoFit/>
          </a:bodyPr>
          <a:lstStyle/>
          <a:p>
            <a:endParaRPr lang="en-IN" sz="1200" dirty="0"/>
          </a:p>
          <a:p>
            <a:endParaRPr lang="en-IN" sz="1200" dirty="0"/>
          </a:p>
          <a:p>
            <a:endParaRPr lang="en-IN" sz="1200" dirty="0"/>
          </a:p>
          <a:p>
            <a:endParaRPr lang="en-IN" sz="1200" b="1" dirty="0"/>
          </a:p>
          <a:p>
            <a:r>
              <a:rPr lang="en-IN" sz="1200" b="1" dirty="0"/>
              <a:t>WEAKNESS</a:t>
            </a:r>
            <a:br>
              <a:rPr lang="en-IN" sz="1200" dirty="0"/>
            </a:br>
            <a:endParaRPr lang="en-IN" sz="1200" dirty="0"/>
          </a:p>
          <a:p>
            <a:r>
              <a:rPr lang="en-IN" sz="1200" dirty="0"/>
              <a:t>- Overfitting: strategy worked historically may fail future regimes</a:t>
            </a:r>
          </a:p>
          <a:p>
            <a:pPr marL="171450" indent="-171450">
              <a:buFontTx/>
              <a:buChar char="-"/>
            </a:pPr>
            <a:r>
              <a:rPr lang="en-IN" sz="1200" dirty="0"/>
              <a:t>Analysis Ignores interest rates, USD/INR effects, Global tech sentiment</a:t>
            </a:r>
          </a:p>
          <a:p>
            <a:r>
              <a:rPr lang="en-IN" sz="1200" dirty="0"/>
              <a:t>- Monthly data may miss intra-month reversals</a:t>
            </a:r>
          </a:p>
          <a:p>
            <a:r>
              <a:rPr lang="en-IN" sz="1200" dirty="0"/>
              <a:t>- Transaction cost: frequently rebalancing may reduce profitability</a:t>
            </a:r>
          </a:p>
          <a:p>
            <a:endParaRPr lang="en-IN" dirty="0"/>
          </a:p>
        </p:txBody>
      </p:sp>
      <p:sp>
        <p:nvSpPr>
          <p:cNvPr id="9" name="TextBox 8">
            <a:extLst>
              <a:ext uri="{FF2B5EF4-FFF2-40B4-BE49-F238E27FC236}">
                <a16:creationId xmlns:a16="http://schemas.microsoft.com/office/drawing/2014/main" id="{108E6997-83CE-3531-3A68-3DF73E05DEA5}"/>
              </a:ext>
            </a:extLst>
          </p:cNvPr>
          <p:cNvSpPr txBox="1"/>
          <p:nvPr/>
        </p:nvSpPr>
        <p:spPr>
          <a:xfrm>
            <a:off x="5933872" y="5293000"/>
            <a:ext cx="5758774" cy="1046440"/>
          </a:xfrm>
          <a:prstGeom prst="rect">
            <a:avLst/>
          </a:prstGeom>
          <a:noFill/>
        </p:spPr>
        <p:txBody>
          <a:bodyPr wrap="square" rtlCol="0">
            <a:spAutoFit/>
          </a:bodyPr>
          <a:lstStyle/>
          <a:p>
            <a:endParaRPr lang="en-IN" dirty="0"/>
          </a:p>
          <a:p>
            <a:endParaRPr lang="en-IN" sz="1100" b="1" dirty="0"/>
          </a:p>
          <a:p>
            <a:r>
              <a:rPr lang="en-IN" sz="1100" b="1" dirty="0"/>
              <a:t>The strategy line (solid) stays above Buy &amp; Hold (dashed) for most of the period</a:t>
            </a:r>
            <a:r>
              <a:rPr lang="en-IN" sz="1100" dirty="0"/>
              <a:t>, particularly pulling ahead during recovery phases after 2023. This suggests the EMA signal effectively timed re-entry after drawdowns</a:t>
            </a:r>
          </a:p>
        </p:txBody>
      </p:sp>
    </p:spTree>
    <p:extLst>
      <p:ext uri="{BB962C8B-B14F-4D97-AF65-F5344CB8AC3E}">
        <p14:creationId xmlns:p14="http://schemas.microsoft.com/office/powerpoint/2010/main" val="38141441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3D graphic chart">
            <a:extLst>
              <a:ext uri="{FF2B5EF4-FFF2-40B4-BE49-F238E27FC236}">
                <a16:creationId xmlns:a16="http://schemas.microsoft.com/office/drawing/2014/main" id="{09CA57D4-3C23-CFF0-AB06-31EAA141445B}"/>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9CE24F8E-7F45-45C5-8538-F6CF6485B716}"/>
              </a:ext>
            </a:extLst>
          </p:cNvPr>
          <p:cNvSpPr>
            <a:spLocks noGrp="1"/>
          </p:cNvSpPr>
          <p:nvPr>
            <p:ph type="title"/>
          </p:nvPr>
        </p:nvSpPr>
        <p:spPr>
          <a:xfrm>
            <a:off x="838200" y="505838"/>
            <a:ext cx="10515600" cy="943583"/>
          </a:xfrm>
        </p:spPr>
        <p:txBody>
          <a:bodyPr>
            <a:normAutofit/>
          </a:bodyPr>
          <a:lstStyle/>
          <a:p>
            <a:r>
              <a:rPr lang="en-US" sz="2800" dirty="0"/>
              <a:t>3. Trading Risk/ Idea </a:t>
            </a:r>
            <a:endParaRPr lang="en-IN" sz="2800" dirty="0"/>
          </a:p>
        </p:txBody>
      </p:sp>
      <p:sp>
        <p:nvSpPr>
          <p:cNvPr id="3" name="Content Placeholder 2">
            <a:extLst>
              <a:ext uri="{FF2B5EF4-FFF2-40B4-BE49-F238E27FC236}">
                <a16:creationId xmlns:a16="http://schemas.microsoft.com/office/drawing/2014/main" id="{001F9FF7-2901-7856-CFB0-3442B211D8C6}"/>
              </a:ext>
            </a:extLst>
          </p:cNvPr>
          <p:cNvSpPr>
            <a:spLocks noGrp="1"/>
          </p:cNvSpPr>
          <p:nvPr>
            <p:ph idx="1"/>
          </p:nvPr>
        </p:nvSpPr>
        <p:spPr>
          <a:xfrm>
            <a:off x="838200" y="1799617"/>
            <a:ext cx="10515600" cy="4377346"/>
          </a:xfrm>
        </p:spPr>
        <p:txBody>
          <a:bodyPr>
            <a:normAutofit/>
          </a:bodyPr>
          <a:lstStyle/>
          <a:p>
            <a:pPr marL="0" indent="0">
              <a:buNone/>
            </a:pPr>
            <a:r>
              <a:rPr lang="en-US" sz="1400" b="1" dirty="0"/>
              <a:t>Why the Risk/Idea is Useful?</a:t>
            </a:r>
          </a:p>
          <a:p>
            <a:pPr marL="0" indent="0" algn="ctr">
              <a:buNone/>
            </a:pPr>
            <a:r>
              <a:rPr lang="en-US" sz="1400" b="1" dirty="0"/>
              <a:t>Performance Matrix</a:t>
            </a:r>
          </a:p>
          <a:p>
            <a:endParaRPr lang="en-IN" sz="1400" b="1" dirty="0"/>
          </a:p>
          <a:p>
            <a:endParaRPr lang="en-IN" sz="1400" b="1" dirty="0"/>
          </a:p>
          <a:p>
            <a:endParaRPr lang="en-IN" sz="1400" b="1" dirty="0"/>
          </a:p>
          <a:p>
            <a:endParaRPr lang="en-IN" sz="1400" b="1" dirty="0"/>
          </a:p>
          <a:p>
            <a:pPr marL="0" indent="0">
              <a:buNone/>
            </a:pPr>
            <a:endParaRPr lang="en-IN" sz="1400" b="1" dirty="0"/>
          </a:p>
          <a:p>
            <a:pPr marL="0" indent="0">
              <a:buNone/>
            </a:pPr>
            <a:endParaRPr lang="en-IN" sz="1400" b="1" dirty="0"/>
          </a:p>
          <a:p>
            <a:endParaRPr lang="en-IN" sz="1400" b="1" dirty="0"/>
          </a:p>
          <a:p>
            <a:r>
              <a:rPr lang="en-IN" sz="1200" b="1" dirty="0"/>
              <a:t>CAGR of 15.15% vs 10.67%</a:t>
            </a:r>
            <a:r>
              <a:rPr lang="en-IN" sz="1200" dirty="0"/>
              <a:t> — the EMA strategy outperformed buy &amp; hold by roughly </a:t>
            </a:r>
            <a:r>
              <a:rPr lang="en-IN" sz="1200" b="1" dirty="0"/>
              <a:t>4.5 percentage points</a:t>
            </a:r>
            <a:r>
              <a:rPr lang="en-IN" sz="1200" dirty="0"/>
              <a:t> annually over 7 years.</a:t>
            </a:r>
          </a:p>
          <a:p>
            <a:r>
              <a:rPr lang="en-IN" sz="1200" b="1" dirty="0"/>
              <a:t>Volatility dropped from 36.52% to 31.03%</a:t>
            </a:r>
            <a:r>
              <a:rPr lang="en-IN" sz="1200" dirty="0"/>
              <a:t> — a ~15% reduction in risk while delivering higher returns</a:t>
            </a:r>
          </a:p>
          <a:p>
            <a:r>
              <a:rPr lang="en-IN" sz="1200" b="1" dirty="0"/>
              <a:t>Sharpe Ratio of 0.48 vs 0.29</a:t>
            </a:r>
            <a:r>
              <a:rPr lang="en-IN" sz="1200" dirty="0"/>
              <a:t> — the strategy delivers </a:t>
            </a:r>
            <a:r>
              <a:rPr lang="en-IN" sz="1200" b="1" dirty="0"/>
              <a:t>65% better risk-adjusted returns</a:t>
            </a:r>
            <a:r>
              <a:rPr lang="en-IN" sz="1200" dirty="0"/>
              <a:t>, meaning each unit of risk taken produces substantially more return.</a:t>
            </a:r>
          </a:p>
          <a:p>
            <a:r>
              <a:rPr lang="en-IN" sz="1200" b="1" dirty="0"/>
              <a:t>Max Drawdown cut from 50% to 32%</a:t>
            </a:r>
            <a:r>
              <a:rPr lang="en-IN" sz="1200" dirty="0"/>
              <a:t> — the strategy avoided nearly </a:t>
            </a:r>
            <a:r>
              <a:rPr lang="en-IN" sz="1200" b="1" dirty="0"/>
              <a:t>18 percentage points</a:t>
            </a:r>
            <a:r>
              <a:rPr lang="en-IN" sz="1200" dirty="0"/>
              <a:t> of peak-to-trough decline, likely by exiting before the worst of the 2020 COVID crash and the 2025 correction.</a:t>
            </a:r>
          </a:p>
          <a:p>
            <a:endParaRPr lang="en-IN" dirty="0"/>
          </a:p>
        </p:txBody>
      </p:sp>
      <p:graphicFrame>
        <p:nvGraphicFramePr>
          <p:cNvPr id="8" name="Table 7">
            <a:extLst>
              <a:ext uri="{FF2B5EF4-FFF2-40B4-BE49-F238E27FC236}">
                <a16:creationId xmlns:a16="http://schemas.microsoft.com/office/drawing/2014/main" id="{AD20E272-46FC-3B9F-0EEB-32931DD0352F}"/>
              </a:ext>
            </a:extLst>
          </p:cNvPr>
          <p:cNvGraphicFramePr>
            <a:graphicFrameLocks noGrp="1"/>
          </p:cNvGraphicFramePr>
          <p:nvPr>
            <p:extLst>
              <p:ext uri="{D42A27DB-BD31-4B8C-83A1-F6EECF244321}">
                <p14:modId xmlns:p14="http://schemas.microsoft.com/office/powerpoint/2010/main" val="272836490"/>
              </p:ext>
            </p:extLst>
          </p:nvPr>
        </p:nvGraphicFramePr>
        <p:xfrm>
          <a:off x="3667327" y="2517281"/>
          <a:ext cx="5145931" cy="1683665"/>
        </p:xfrm>
        <a:graphic>
          <a:graphicData uri="http://schemas.openxmlformats.org/drawingml/2006/table">
            <a:tbl>
              <a:tblPr firstRow="1" bandRow="1">
                <a:tableStyleId>{5C22544A-7EE6-4342-B048-85BDC9FD1C3A}</a:tableStyleId>
              </a:tblPr>
              <a:tblGrid>
                <a:gridCol w="1443913">
                  <a:extLst>
                    <a:ext uri="{9D8B030D-6E8A-4147-A177-3AD203B41FA5}">
                      <a16:colId xmlns:a16="http://schemas.microsoft.com/office/drawing/2014/main" val="1309917585"/>
                    </a:ext>
                  </a:extLst>
                </a:gridCol>
                <a:gridCol w="1851009">
                  <a:extLst>
                    <a:ext uri="{9D8B030D-6E8A-4147-A177-3AD203B41FA5}">
                      <a16:colId xmlns:a16="http://schemas.microsoft.com/office/drawing/2014/main" val="2213298404"/>
                    </a:ext>
                  </a:extLst>
                </a:gridCol>
                <a:gridCol w="1851009">
                  <a:extLst>
                    <a:ext uri="{9D8B030D-6E8A-4147-A177-3AD203B41FA5}">
                      <a16:colId xmlns:a16="http://schemas.microsoft.com/office/drawing/2014/main" val="2145024640"/>
                    </a:ext>
                  </a:extLst>
                </a:gridCol>
              </a:tblGrid>
              <a:tr h="0">
                <a:tc>
                  <a:txBody>
                    <a:bodyPr/>
                    <a:lstStyle/>
                    <a:p>
                      <a:r>
                        <a:rPr lang="en-US" sz="1100" dirty="0">
                          <a:latin typeface="+mn-lt"/>
                        </a:rPr>
                        <a:t>Parameter</a:t>
                      </a:r>
                      <a:endParaRPr lang="en-IN" sz="1100" dirty="0">
                        <a:latin typeface="+mn-lt"/>
                      </a:endParaRPr>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100" dirty="0">
                          <a:latin typeface="+mn-lt"/>
                        </a:rPr>
                        <a:t>EMA 10 Strategy (%)</a:t>
                      </a:r>
                      <a:endParaRPr lang="en-IN" sz="1100" dirty="0">
                        <a:latin typeface="+mn-lt"/>
                      </a:endParaRPr>
                    </a:p>
                  </a:txBody>
                  <a:tcPr>
                    <a:lnL w="12700" cap="flat" cmpd="sng" algn="ctr">
                      <a:no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r>
                        <a:rPr lang="en-US" sz="1100" dirty="0">
                          <a:latin typeface="+mn-lt"/>
                        </a:rPr>
                        <a:t>Buy &amp; Hold benchmark (%)</a:t>
                      </a:r>
                      <a:endParaRPr lang="en-IN" sz="1100" dirty="0">
                        <a:latin typeface="+mn-lt"/>
                      </a:endParaRP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145136198"/>
                  </a:ext>
                </a:extLst>
              </a:tr>
              <a:tr h="307784">
                <a:tc>
                  <a:txBody>
                    <a:bodyPr/>
                    <a:lstStyle/>
                    <a:p>
                      <a:r>
                        <a:rPr lang="en-US" sz="1100" dirty="0">
                          <a:latin typeface="+mn-lt"/>
                        </a:rPr>
                        <a:t>CAGR</a:t>
                      </a:r>
                      <a:endParaRPr lang="en-IN" sz="1100" dirty="0">
                        <a:latin typeface="+mn-lt"/>
                      </a:endParaRPr>
                    </a:p>
                  </a:txBody>
                  <a:tcPr>
                    <a:lnL w="1270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tcPr>
                </a:tc>
                <a:tc>
                  <a:txBody>
                    <a:bodyPr/>
                    <a:lstStyle/>
                    <a:p>
                      <a:r>
                        <a:rPr lang="en-US" sz="1100" dirty="0">
                          <a:latin typeface="+mn-lt"/>
                        </a:rPr>
                        <a:t>15.15</a:t>
                      </a:r>
                      <a:endParaRPr lang="en-IN" sz="1100" dirty="0">
                        <a:latin typeface="+mn-lt"/>
                      </a:endParaRPr>
                    </a:p>
                  </a:txBody>
                  <a:tcPr/>
                </a:tc>
                <a:tc>
                  <a:txBody>
                    <a:bodyPr/>
                    <a:lstStyle/>
                    <a:p>
                      <a:r>
                        <a:rPr lang="en-US" sz="1100" dirty="0">
                          <a:latin typeface="+mn-lt"/>
                        </a:rPr>
                        <a:t>10.67</a:t>
                      </a:r>
                      <a:endParaRPr lang="en-IN" sz="1100" dirty="0">
                        <a:latin typeface="+mn-lt"/>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645848151"/>
                  </a:ext>
                </a:extLst>
              </a:tr>
              <a:tr h="307784">
                <a:tc>
                  <a:txBody>
                    <a:bodyPr/>
                    <a:lstStyle/>
                    <a:p>
                      <a:r>
                        <a:rPr lang="en-US" sz="1100" dirty="0">
                          <a:latin typeface="+mn-lt"/>
                        </a:rPr>
                        <a:t>Annual Volatility</a:t>
                      </a:r>
                      <a:endParaRPr lang="en-IN" sz="1100" dirty="0">
                        <a:latin typeface="+mn-lt"/>
                      </a:endParaRPr>
                    </a:p>
                  </a:txBody>
                  <a:tcPr>
                    <a:lnL w="12700" cap="flat" cmpd="sng" algn="ctr">
                      <a:solidFill>
                        <a:schemeClr val="tx1"/>
                      </a:solidFill>
                      <a:prstDash val="solid"/>
                      <a:round/>
                      <a:headEnd type="none" w="med" len="med"/>
                      <a:tailEnd type="none" w="med" len="med"/>
                    </a:lnL>
                  </a:tcPr>
                </a:tc>
                <a:tc>
                  <a:txBody>
                    <a:bodyPr/>
                    <a:lstStyle/>
                    <a:p>
                      <a:r>
                        <a:rPr lang="en-US" sz="1100" dirty="0">
                          <a:latin typeface="+mn-lt"/>
                        </a:rPr>
                        <a:t>31.03</a:t>
                      </a:r>
                      <a:endParaRPr lang="en-IN" sz="1100" dirty="0">
                        <a:latin typeface="+mn-lt"/>
                      </a:endParaRPr>
                    </a:p>
                  </a:txBody>
                  <a:tcPr/>
                </a:tc>
                <a:tc>
                  <a:txBody>
                    <a:bodyPr/>
                    <a:lstStyle/>
                    <a:p>
                      <a:r>
                        <a:rPr lang="en-US" sz="1100" dirty="0">
                          <a:latin typeface="+mn-lt"/>
                        </a:rPr>
                        <a:t>36.52</a:t>
                      </a:r>
                      <a:endParaRPr lang="en-IN" sz="1100" dirty="0">
                        <a:latin typeface="+mn-lt"/>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29475927"/>
                  </a:ext>
                </a:extLst>
              </a:tr>
              <a:tr h="333593">
                <a:tc>
                  <a:txBody>
                    <a:bodyPr/>
                    <a:lstStyle/>
                    <a:p>
                      <a:r>
                        <a:rPr lang="en-US" sz="1100" dirty="0">
                          <a:latin typeface="+mn-lt"/>
                        </a:rPr>
                        <a:t>Sharpe Ratio</a:t>
                      </a:r>
                      <a:endParaRPr lang="en-IN" sz="1100" dirty="0">
                        <a:latin typeface="+mn-lt"/>
                      </a:endParaRPr>
                    </a:p>
                  </a:txBody>
                  <a:tcPr>
                    <a:lnL w="12700" cap="flat" cmpd="sng" algn="ctr">
                      <a:solidFill>
                        <a:schemeClr val="tx1"/>
                      </a:solidFill>
                      <a:prstDash val="solid"/>
                      <a:round/>
                      <a:headEnd type="none" w="med" len="med"/>
                      <a:tailEnd type="none" w="med" len="med"/>
                    </a:lnL>
                  </a:tcPr>
                </a:tc>
                <a:tc>
                  <a:txBody>
                    <a:bodyPr/>
                    <a:lstStyle/>
                    <a:p>
                      <a:r>
                        <a:rPr lang="en-US" sz="1100" dirty="0">
                          <a:latin typeface="+mn-lt"/>
                        </a:rPr>
                        <a:t>0.48</a:t>
                      </a:r>
                      <a:endParaRPr lang="en-IN" sz="1100" dirty="0">
                        <a:latin typeface="+mn-lt"/>
                      </a:endParaRPr>
                    </a:p>
                  </a:txBody>
                  <a:tcPr/>
                </a:tc>
                <a:tc>
                  <a:txBody>
                    <a:bodyPr/>
                    <a:lstStyle/>
                    <a:p>
                      <a:r>
                        <a:rPr lang="en-US" sz="1100" dirty="0">
                          <a:latin typeface="+mn-lt"/>
                        </a:rPr>
                        <a:t>0.29</a:t>
                      </a:r>
                      <a:endParaRPr lang="en-IN" sz="1100" dirty="0">
                        <a:latin typeface="+mn-lt"/>
                      </a:endParaRPr>
                    </a:p>
                  </a:txBody>
                  <a:tcP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743537727"/>
                  </a:ext>
                </a:extLst>
              </a:tr>
              <a:tr h="307784">
                <a:tc>
                  <a:txBody>
                    <a:bodyPr/>
                    <a:lstStyle/>
                    <a:p>
                      <a:r>
                        <a:rPr lang="en-US" sz="1100" dirty="0">
                          <a:latin typeface="+mn-lt"/>
                        </a:rPr>
                        <a:t>Max Drawdown</a:t>
                      </a:r>
                      <a:endParaRPr lang="en-IN" sz="1100" dirty="0">
                        <a:latin typeface="+mn-lt"/>
                      </a:endParaRP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r>
                        <a:rPr lang="en-US" sz="1100" dirty="0">
                          <a:latin typeface="+mn-lt"/>
                        </a:rPr>
                        <a:t>32%</a:t>
                      </a:r>
                      <a:endParaRPr lang="en-IN" sz="1100" dirty="0">
                        <a:latin typeface="+mn-lt"/>
                      </a:endParaRPr>
                    </a:p>
                  </a:txBody>
                  <a:tcPr>
                    <a:lnB w="12700" cap="flat" cmpd="sng" algn="ctr">
                      <a:solidFill>
                        <a:schemeClr val="tx1"/>
                      </a:solidFill>
                      <a:prstDash val="solid"/>
                      <a:round/>
                      <a:headEnd type="none" w="med" len="med"/>
                      <a:tailEnd type="none" w="med" len="med"/>
                    </a:lnB>
                  </a:tcPr>
                </a:tc>
                <a:tc>
                  <a:txBody>
                    <a:bodyPr/>
                    <a:lstStyle/>
                    <a:p>
                      <a:r>
                        <a:rPr lang="en-US" sz="1100" dirty="0">
                          <a:latin typeface="+mn-lt"/>
                        </a:rPr>
                        <a:t>50%</a:t>
                      </a:r>
                      <a:endParaRPr lang="en-IN" sz="1100" dirty="0">
                        <a:latin typeface="+mn-lt"/>
                      </a:endParaRP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2373910"/>
                  </a:ext>
                </a:extLst>
              </a:tr>
            </a:tbl>
          </a:graphicData>
        </a:graphic>
      </p:graphicFrame>
    </p:spTree>
    <p:extLst>
      <p:ext uri="{BB962C8B-B14F-4D97-AF65-F5344CB8AC3E}">
        <p14:creationId xmlns:p14="http://schemas.microsoft.com/office/powerpoint/2010/main" val="36863149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3D graphic chart">
            <a:extLst>
              <a:ext uri="{FF2B5EF4-FFF2-40B4-BE49-F238E27FC236}">
                <a16:creationId xmlns:a16="http://schemas.microsoft.com/office/drawing/2014/main" id="{85A1782F-4846-8AAD-B35E-B46831A76A28}"/>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FE9A5592-A989-6542-EE15-388CA13C6269}"/>
              </a:ext>
            </a:extLst>
          </p:cNvPr>
          <p:cNvSpPr>
            <a:spLocks noGrp="1"/>
          </p:cNvSpPr>
          <p:nvPr>
            <p:ph type="title"/>
          </p:nvPr>
        </p:nvSpPr>
        <p:spPr>
          <a:xfrm>
            <a:off x="831850" y="544750"/>
            <a:ext cx="10515600" cy="797667"/>
          </a:xfrm>
        </p:spPr>
        <p:txBody>
          <a:bodyPr>
            <a:normAutofit/>
          </a:bodyPr>
          <a:lstStyle/>
          <a:p>
            <a:r>
              <a:rPr lang="en-US" sz="2800" dirty="0"/>
              <a:t>4. Key Takeaways</a:t>
            </a:r>
            <a:endParaRPr lang="en-IN" sz="2800" dirty="0"/>
          </a:p>
        </p:txBody>
      </p:sp>
      <p:sp>
        <p:nvSpPr>
          <p:cNvPr id="3" name="Text Placeholder 2">
            <a:extLst>
              <a:ext uri="{FF2B5EF4-FFF2-40B4-BE49-F238E27FC236}">
                <a16:creationId xmlns:a16="http://schemas.microsoft.com/office/drawing/2014/main" id="{73C2E147-4849-390D-CA8A-D4C4866626D5}"/>
              </a:ext>
            </a:extLst>
          </p:cNvPr>
          <p:cNvSpPr>
            <a:spLocks noGrp="1"/>
          </p:cNvSpPr>
          <p:nvPr>
            <p:ph type="body" idx="1"/>
          </p:nvPr>
        </p:nvSpPr>
        <p:spPr>
          <a:xfrm>
            <a:off x="831850" y="1624519"/>
            <a:ext cx="10515600" cy="4465131"/>
          </a:xfrm>
        </p:spPr>
        <p:txBody>
          <a:bodyPr/>
          <a:lstStyle/>
          <a:p>
            <a:pPr marL="342900" indent="-342900">
              <a:buFont typeface="Arial" panose="020B0604020202020204" pitchFamily="34" charset="0"/>
              <a:buChar char="•"/>
            </a:pPr>
            <a:endParaRPr lang="en-IN" sz="1600" b="1" dirty="0"/>
          </a:p>
          <a:p>
            <a:pPr marL="342900" indent="-342900">
              <a:buFont typeface="Arial" panose="020B0604020202020204" pitchFamily="34" charset="0"/>
              <a:buChar char="•"/>
            </a:pPr>
            <a:endParaRPr lang="en-IN" sz="1600" b="1" dirty="0"/>
          </a:p>
          <a:p>
            <a:pPr marL="342900" indent="-342900">
              <a:buFont typeface="Arial" panose="020B0604020202020204" pitchFamily="34" charset="0"/>
              <a:buChar char="•"/>
            </a:pPr>
            <a:r>
              <a:rPr lang="en-IN" sz="1600" b="1" dirty="0">
                <a:solidFill>
                  <a:schemeClr val="tx1"/>
                </a:solidFill>
              </a:rPr>
              <a:t>HCL Tech and Infosys offered the best risk-adjusted journey</a:t>
            </a:r>
            <a:r>
              <a:rPr lang="en-IN" sz="1600" dirty="0">
                <a:solidFill>
                  <a:schemeClr val="tx1"/>
                </a:solidFill>
              </a:rPr>
              <a:t> — strong returns with the smoothest, most consistent growth path and lowest volatility even in big market crashes</a:t>
            </a:r>
          </a:p>
          <a:p>
            <a:pPr marL="342900" indent="-342900">
              <a:buFont typeface="Arial" panose="020B0604020202020204" pitchFamily="34" charset="0"/>
              <a:buChar char="•"/>
            </a:pPr>
            <a:r>
              <a:rPr lang="en-IN" sz="1600" b="1" dirty="0">
                <a:solidFill>
                  <a:schemeClr val="tx1"/>
                </a:solidFill>
              </a:rPr>
              <a:t>OFSS Breakout (2023-2024)</a:t>
            </a:r>
            <a:r>
              <a:rPr lang="en-IN" sz="1600" dirty="0">
                <a:solidFill>
                  <a:schemeClr val="tx1"/>
                </a:solidFill>
              </a:rPr>
              <a:t> – </a:t>
            </a:r>
            <a:r>
              <a:rPr lang="en-IN" sz="1600" b="1" dirty="0">
                <a:solidFill>
                  <a:schemeClr val="tx1"/>
                </a:solidFill>
              </a:rPr>
              <a:t> </a:t>
            </a:r>
            <a:r>
              <a:rPr lang="en-IN" sz="1600" dirty="0">
                <a:solidFill>
                  <a:schemeClr val="tx1"/>
                </a:solidFill>
              </a:rPr>
              <a:t>delivered the highest absolute returns of the group with a dramatic breakout (slide 4), while maintaining mid-range volatility — quietly outperforming the larger IT stocks. Its moderate correlation with all 4 stocks and manageable drawdown profile make it relatively stable for investors looking beyond the usual large-cap IT bets.</a:t>
            </a:r>
          </a:p>
          <a:p>
            <a:pPr marL="342900" indent="-342900">
              <a:buFont typeface="Arial" panose="020B0604020202020204" pitchFamily="34" charset="0"/>
              <a:buChar char="•"/>
            </a:pPr>
            <a:r>
              <a:rPr lang="en-IN" sz="1600" b="1" dirty="0">
                <a:solidFill>
                  <a:schemeClr val="tx1"/>
                </a:solidFill>
              </a:rPr>
              <a:t>Tech Mahindra's high volatility is a double-edged sword</a:t>
            </a:r>
            <a:r>
              <a:rPr lang="en-IN" sz="1600" dirty="0">
                <a:solidFill>
                  <a:schemeClr val="tx1"/>
                </a:solidFill>
              </a:rPr>
              <a:t> — it had explosive rallies (2023–2024) but equally sharp declines , reinforcing why the EMA 10 strategy from slide 8 was proposed specifically for this stock.</a:t>
            </a:r>
          </a:p>
          <a:p>
            <a:endParaRPr lang="en-IN" dirty="0"/>
          </a:p>
        </p:txBody>
      </p:sp>
    </p:spTree>
    <p:extLst>
      <p:ext uri="{BB962C8B-B14F-4D97-AF65-F5344CB8AC3E}">
        <p14:creationId xmlns:p14="http://schemas.microsoft.com/office/powerpoint/2010/main" val="371594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3D graphic chart">
            <a:extLst>
              <a:ext uri="{FF2B5EF4-FFF2-40B4-BE49-F238E27FC236}">
                <a16:creationId xmlns:a16="http://schemas.microsoft.com/office/drawing/2014/main" id="{5F36BE0C-8114-2AA4-82A6-30D64B947456}"/>
              </a:ext>
            </a:extLst>
          </p:cNvPr>
          <p:cNvPicPr>
            <a:picLocks noChangeAspect="1"/>
          </p:cNvPicPr>
          <p:nvPr/>
        </p:nvPicPr>
        <p:blipFill>
          <a:blip r:embed="rId2">
            <a:alphaModFix amt="20000"/>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C8ECB241-9E67-6F35-2E83-BE9F6AACDD09}"/>
              </a:ext>
            </a:extLst>
          </p:cNvPr>
          <p:cNvSpPr>
            <a:spLocks noGrp="1"/>
          </p:cNvSpPr>
          <p:nvPr>
            <p:ph type="title"/>
          </p:nvPr>
        </p:nvSpPr>
        <p:spPr>
          <a:xfrm>
            <a:off x="744301" y="843976"/>
            <a:ext cx="10515600" cy="790271"/>
          </a:xfrm>
        </p:spPr>
        <p:txBody>
          <a:bodyPr>
            <a:normAutofit/>
          </a:bodyPr>
          <a:lstStyle/>
          <a:p>
            <a:r>
              <a:rPr lang="en-US" sz="2800" dirty="0"/>
              <a:t>5. Disclaimer</a:t>
            </a:r>
            <a:endParaRPr lang="en-IN" sz="2800" dirty="0"/>
          </a:p>
        </p:txBody>
      </p:sp>
      <p:sp>
        <p:nvSpPr>
          <p:cNvPr id="3" name="Text Placeholder 2">
            <a:extLst>
              <a:ext uri="{FF2B5EF4-FFF2-40B4-BE49-F238E27FC236}">
                <a16:creationId xmlns:a16="http://schemas.microsoft.com/office/drawing/2014/main" id="{9A6F43BC-F46C-3EBE-73D4-B7AB70B2A323}"/>
              </a:ext>
            </a:extLst>
          </p:cNvPr>
          <p:cNvSpPr>
            <a:spLocks noGrp="1"/>
          </p:cNvSpPr>
          <p:nvPr>
            <p:ph type="body" idx="1"/>
          </p:nvPr>
        </p:nvSpPr>
        <p:spPr>
          <a:xfrm>
            <a:off x="838200" y="2600753"/>
            <a:ext cx="10515600" cy="2490280"/>
          </a:xfrm>
        </p:spPr>
        <p:txBody>
          <a:bodyPr>
            <a:normAutofit/>
          </a:bodyPr>
          <a:lstStyle/>
          <a:p>
            <a:r>
              <a:rPr lang="en-IN" sz="1800" dirty="0"/>
              <a:t>This report utilized AI tools (including ChatGPT and Copilot) as supportive aids for tasks such as understanding terminology, Python coding assistance, workflow structuring, and refining explanations. However, all analysis, interpretation of patterns, methodology design, and final validation were performed manually to ensure accuracy and originality.</a:t>
            </a:r>
          </a:p>
          <a:p>
            <a:endParaRPr lang="en-IN" sz="1800" dirty="0"/>
          </a:p>
          <a:p>
            <a:endParaRPr lang="en-IN" sz="1800" dirty="0"/>
          </a:p>
          <a:p>
            <a:r>
              <a:rPr lang="en-IN" sz="1800" dirty="0"/>
              <a:t>THANK YOU.</a:t>
            </a:r>
          </a:p>
        </p:txBody>
      </p:sp>
    </p:spTree>
    <p:extLst>
      <p:ext uri="{BB962C8B-B14F-4D97-AF65-F5344CB8AC3E}">
        <p14:creationId xmlns:p14="http://schemas.microsoft.com/office/powerpoint/2010/main" val="15699973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339</TotalTime>
  <Words>1076</Words>
  <Application>Microsoft Office PowerPoint</Application>
  <PresentationFormat>Widescreen</PresentationFormat>
  <Paragraphs>161</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Aptos Display</vt:lpstr>
      <vt:lpstr>Arial</vt:lpstr>
      <vt:lpstr>Office Theme</vt:lpstr>
      <vt:lpstr> Risk &amp; Return Analysis of Indian IT Stocks </vt:lpstr>
      <vt:lpstr>Content</vt:lpstr>
      <vt:lpstr>1. Objective  This report analyses Monthly Closing Prices of 4 Major Indian Information Technology (IT) equities from Financial Year 2018- 2026 to study investment return behaviour, market volatility and inter-stock relationship within the sector and propose a simple risk-based Investment Idea </vt:lpstr>
      <vt:lpstr>2. Pattern Analysis</vt:lpstr>
      <vt:lpstr>   b) Rolling Volatility Plot </vt:lpstr>
      <vt:lpstr>c) Correlation Heatmap</vt:lpstr>
      <vt:lpstr>d) Drawdown Analysis</vt:lpstr>
      <vt:lpstr>3. Trading Risk/ Idea</vt:lpstr>
      <vt:lpstr>3. Trading Risk/ Idea </vt:lpstr>
      <vt:lpstr>4. Key Takeaways</vt:lpstr>
      <vt:lpstr>5. Disclaimer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Chinmayi Sutar</dc:creator>
  <cp:lastModifiedBy>Chinmayi Sutar</cp:lastModifiedBy>
  <cp:revision>27</cp:revision>
  <dcterms:created xsi:type="dcterms:W3CDTF">2026-05-24T13:07:59Z</dcterms:created>
  <dcterms:modified xsi:type="dcterms:W3CDTF">2026-05-25T11:44:56Z</dcterms:modified>
</cp:coreProperties>
</file>